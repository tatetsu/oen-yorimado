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552EF9-BA63-41EA-8549-83D43F13FCEF}">
  <a:tblStyle styleId="{72552EF9-BA63-41EA-8549-83D43F13FC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Relationship Id="rId4" Type="http://schemas.openxmlformats.org/officeDocument/2006/relationships/image" Target="../media/image6.jpg"/><Relationship Id="rId5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26.jpg"/><Relationship Id="rId5" Type="http://schemas.openxmlformats.org/officeDocument/2006/relationships/image" Target="../media/image11.jpg"/><Relationship Id="rId6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Relationship Id="rId4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Relationship Id="rId4" Type="http://schemas.openxmlformats.org/officeDocument/2006/relationships/image" Target="../media/image13.jpg"/><Relationship Id="rId5" Type="http://schemas.openxmlformats.org/officeDocument/2006/relationships/image" Target="../media/image15.jpg"/><Relationship Id="rId6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Relationship Id="rId4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Relationship Id="rId4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Relationship Id="rId4" Type="http://schemas.openxmlformats.org/officeDocument/2006/relationships/image" Target="../media/image2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905695" y="4114800"/>
            <a:ext cx="3657600" cy="3657600"/>
          </a:xfrm>
          <a:prstGeom prst="ellipse">
            <a:avLst/>
          </a:prstGeom>
          <a:solidFill>
            <a:srgbClr val="E8A87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173736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Yorimado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来館記録管理マニュアル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スプレッドシートの使い方を、画像付きでやさしく解説します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4297680"/>
            <a:ext cx="1097280" cy="36576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choi-dx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REDEFINE YOUR PROCESS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目次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目次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508760"/>
            <a:ext cx="54864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57200" y="1828800"/>
            <a:ext cx="73152" cy="36576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毎日・毎月の作業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28600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43000" y="2331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フォーム回答を確認する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43000" y="257860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毎日、フォーム送信後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92608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43000" y="2971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月別集計を見る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43000" y="32186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毎月、利用状況の確認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356616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43000" y="3611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確定来館記録を見る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143000" y="385876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毎月、実績を確認する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420624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43000" y="4251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来館カレンダーを見る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143000" y="44988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カレンダー形式で把握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" y="484632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48640" y="4846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143000" y="4892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児童別ビューを見る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143000" y="513892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保護者報告・個別確認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400800" y="1828800"/>
            <a:ext cx="73152" cy="365760"/>
          </a:xfrm>
          <a:prstGeom prst="rect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583680" y="1828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登録・設定を変えるとき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400800" y="228600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492240" y="2286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086600" y="2331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児童を追加する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086600" y="257860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新しい児童の利用が決まったとき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400800" y="292608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49224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086600" y="2971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086600" y="32186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新しいスタッフが入ったとき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0" y="356616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492240" y="3566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086600" y="3611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定型文を編集する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086600" y="385876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連絡事項の文言を増やすとき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400800" y="4206240"/>
            <a:ext cx="5303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492240" y="4206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086600" y="4251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設定を変更する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086600" y="44988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メール文面や基本設定の変更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はじめに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55448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You 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読み方ガイド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この手順書の読み方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463040" y="1965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毎日・毎月やること（01〜05）</a:t>
            </a:r>
            <a:r>
              <a:rPr b="0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から順に読むと、普段の作業の流れが分かります。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463040" y="3063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登録や設定を変えるとき（10〜13）</a:t>
            </a:r>
            <a:r>
              <a:rPr b="0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は、必要になったときだけ開いてください。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463040" y="4160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画像は実際の画面と同じもの</a:t>
            </a:r>
            <a:r>
              <a:rPr b="0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です。赤い枠で囲まれている場所が「クリックする場所」です。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FF3E7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5394960"/>
            <a:ext cx="109728" cy="100584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85800" y="54864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困ったら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スプレッドシートを開き直す／対象年月が「すべて」になっていないか確認する／それでも直らないときは管理者に連絡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はじめに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55448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You 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画面の全体像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スプレッドシートのタブ一覧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下のようにたくさんのタブが並んでいます。それぞれが「シート」と呼ばれる1つのページです。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6"/>
          <p:cNvGraphicFramePr/>
          <p:nvPr/>
        </p:nvGraphicFramePr>
        <p:xfrm>
          <a:off x="4572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2926075"/>
                <a:gridCol w="832105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タブ名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何のためのシート？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未記入児童一覧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来館予定なのにフォーム送信されていない児童を確認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フォームの回答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スタッフが送信したフォーム回答が集まる場所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→マスタ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マスタ関連の見出し（クリック不要）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メール文面や営業日などの基本設定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許可ユーザー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スタッフ用リンク（トークン）を発行する場所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児童マスタ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児童の基本情報を登録する場所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スタッフマスタ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スタッフの基本情報と稼働日を登録する場所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定型文マスタ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連絡事項でよく使う文言を登録する場所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→集計結果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集計関連の見出し（クリック不要）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月別集計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月ごとの利用状況をまとめたシート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確定来館記録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実際の来館記録と振り分け予測をまとめたシート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来館カレンダー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カレンダー形式で来館状況を見るシート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児童別ビュー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特定の児童の記録だけを絞り込んで見るシート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ログ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エラー記録（普段は見なくてOK）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フォーム回答を確認する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スタッフが送信した来館記録が正しく反映されているか、毎日チェックしよう。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フォーム回答を確認する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868680"/>
            <a:ext cx="22860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94360" y="8686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毎日 フォーム送信後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880360" y="868680"/>
            <a:ext cx="1042416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3017520" y="868680"/>
            <a:ext cx="859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059936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19709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日誌担当スタッフ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051560" y="184708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「フォームの回答」シートを開く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051560" y="219456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スプレッドシート下部のタブから「フォームの回答」をクリック。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51560" y="28529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送信内容が上から順に並ぶ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051560" y="320040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記録日・児童名・スタッフ名・入退所時間などが自動入力されます。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051560" y="385876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表示されていないとき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051560" y="420624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スプレッドシートを開き直す → ダメなら管理者に連絡。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181344" y="1426464"/>
            <a:ext cx="5650992" cy="3913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1_form_responses.jpg"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5778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solidFill>
            <a:srgbClr val="FFF3E7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57200" y="5577840"/>
            <a:ext cx="109728" cy="9144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85800" y="56235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間違えて送信してしまったときは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85800" y="5943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スプレッドシートで直接書き換えず、Webビュー（修正ツール）を使って修正・削除してください。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月別集計を見る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児童ごとの利用枠・来館数・残数・利用率を一覧で確認します。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月別集計を見る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57200" y="868680"/>
            <a:ext cx="21305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94360" y="868680"/>
            <a:ext cx="1947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毎月（振り返り時）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2724912" y="868680"/>
            <a:ext cx="135331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2862072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1〜2分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215384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4352544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「月別集計」タブをクリック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005840" y="21488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スプレッドシート下部のタブから選ぶ。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005840" y="26974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対象年を選ぶ（B1セル）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005840" y="30175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プルダウンから見たい年を選択（例：2026年）。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1005840" y="35661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対象月を選ぶ（B2セル）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005840" y="38862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プルダウンから見たい月を選択（例：1月）。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57200" y="448056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457200" y="4480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005840" y="44348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集計結果を確認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005840" y="47548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児童ごとに利用枠・来館数・残数・利用率が表示。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181344" y="1426464"/>
            <a:ext cx="5650992" cy="24505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2_monthly_summary.jpg"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5778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6181344" y="3986784"/>
            <a:ext cx="2816352" cy="21762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2_monthly_year.jpg" id="220" name="Google Shape;22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9015984" y="3986784"/>
            <a:ext cx="2816352" cy="21762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2_monthly_month.jpg" id="222" name="Google Shape;22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457200" y="5760720"/>
            <a:ext cx="5577840" cy="68580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85800" y="5806440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POINT  </a:t>
            </a: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「すべて」のままだと数字が集計されません。必ず年と月を指定してください。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月別集計を見る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表の見方とトラブル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表の見方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11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1371600"/>
                <a:gridCol w="41148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列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意味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児童番号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児童名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児童の名前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利用枠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その月に使える上限回数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来館数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実際に来館した回数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残数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利用枠 − 来館数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利用率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利用枠に対する来館数の割合（%）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p11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よくあるトラブル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11"/>
          <p:cNvGraphicFramePr/>
          <p:nvPr/>
        </p:nvGraphicFramePr>
        <p:xfrm>
          <a:off x="64008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2103125"/>
                <a:gridCol w="32004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症状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原因と対処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534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すべての数字が0になる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B1/B2が「すべて」のまま。年月を指定してください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児童が表示されない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児童マスタに未登録の可能性（10章を参照）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利用率が100%を超える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利用枠を超えて来館。管理者に相談を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8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11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EEF3F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57200" y="5303520"/>
            <a:ext cx="109728" cy="10972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85800" y="53492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大事な注意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85800" y="56692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集計表の数字は自動計算されます。直接書き換えないでください。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B1（対象年）とB2（対象月）のプルダウンのみ操作可能です。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確定来館記録を見る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対象年月の全来館記録（実データ + 振り分け予測）を一覧で確認します。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確定来館記録を見る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57200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594360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毎月 実績確認時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2569464" y="868680"/>
            <a:ext cx="135331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2706624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2〜3分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059936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419709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「確定来館記録」タブをクリック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1005840" y="21488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下部タブから選ぶ。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1005840" y="26974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対象年を選ぶ（B1）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005840" y="30175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プルダウンから年を選択。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005840" y="35661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対象月を選ぶ（B2）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005840" y="38862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プルダウンから月を選択。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57200" y="448056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457200" y="4480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005840" y="44348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日付順に全記録を確認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005840" y="47548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記録日・スタッフ・入退所時間・体温・食事・便・服薬など。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181344" y="1426464"/>
            <a:ext cx="5650992" cy="24505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3_confirmed_visits.jpg" id="293" name="Google Shape;2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5778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6181344" y="3986784"/>
            <a:ext cx="2816352" cy="21762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3_confirmed_year.jpg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9015984" y="3986784"/>
            <a:ext cx="2816352" cy="21762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3_confirmed_month.jpg" id="297" name="Google Shape;29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/>
          <p:nvPr/>
        </p:nvSpPr>
        <p:spPr>
          <a:xfrm>
            <a:off x="457200" y="5760720"/>
            <a:ext cx="5577840" cy="68580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85800" y="5806440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重要  </a:t>
            </a: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「データ区分」列は絶対に書き換えないでください。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確定来館記録を見る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実データと振り分けの違い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「実データ」と「振り分け」の違い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457200" y="1554480"/>
            <a:ext cx="55778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457200" y="1554480"/>
            <a:ext cx="91440" cy="2286000"/>
          </a:xfrm>
          <a:prstGeom prst="rect">
            <a:avLst/>
          </a:prstGeom>
          <a:solidFill>
            <a:srgbClr val="5FA579"/>
          </a:solidFill>
          <a:ln cap="flat" cmpd="sng" w="12700">
            <a:solidFill>
              <a:srgbClr val="5FA5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85800" y="16916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実データ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85800" y="2057400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スタッフがフォームで送信した、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実際に起きたことの記録。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最も信頼できる記録です。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6126480" y="1554480"/>
            <a:ext cx="55778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6126480" y="1554480"/>
            <a:ext cx="91440" cy="2286000"/>
          </a:xfrm>
          <a:prstGeom prst="rect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6355080" y="16916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振り分け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355080" y="2057400"/>
            <a:ext cx="53035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「この児童はたぶんこの日に来る」という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システムの予測。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児童マスタの来館予定 × スタッフ稼働日から自動生成されます。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57200" y="4023360"/>
            <a:ext cx="11247120" cy="1005840"/>
          </a:xfrm>
          <a:prstGeom prst="rect">
            <a:avLst/>
          </a:prstGeom>
          <a:solidFill>
            <a:srgbClr val="EEF3F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685800" y="41605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自動置き換え：</a:t>
            </a: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実際に来館してフォームが送信されると、同じ日の「振り分け」は自動で「実データ」に置き換わります。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よくあるトラブル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5" name="Google Shape;325;p14"/>
          <p:cNvGraphicFramePr/>
          <p:nvPr/>
        </p:nvGraphicFramePr>
        <p:xfrm>
          <a:off x="457200" y="5577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3474725"/>
                <a:gridCol w="77724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症状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原因と対処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534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記録が出てこない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B1/B2が「すべて」になっていないか確認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8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振り分けが残ったまま更新されない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月次処理が未実行。管理者に「確定来館記録を手動更新」を依頼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入退所時間が逆（宿泊記録）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フォーム入力時の日付が逆。Webビューから修正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来館カレンダーを見る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カレンダー形式で「どの日に誰が来たか」を一目で確認します。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来館カレンダーを見る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手順とマークの見方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457200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594360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毎月 全体把握時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2569464" y="868680"/>
            <a:ext cx="135331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2706624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1〜2分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4059936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419709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100584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「来館カレンダー」タブをクリック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1005840" y="25603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対象年を選ぶ（B1）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457200" y="315468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1005840" y="3200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対象月を選ぶ（B2）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縦=日付、横=児童名で表示される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457200" y="4526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マークの意味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457200" y="4937760"/>
            <a:ext cx="457200" cy="320040"/>
          </a:xfrm>
          <a:prstGeom prst="rect">
            <a:avLst/>
          </a:prstGeom>
          <a:solidFill>
            <a:srgbClr val="5FA579"/>
          </a:solidFill>
          <a:ln cap="flat" cmpd="sng" w="12700">
            <a:solidFill>
              <a:srgbClr val="5FA5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457200" y="49377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1005840" y="49377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来館した日（実データ）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3931920" y="49377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緑色のセル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457200" y="5321808"/>
            <a:ext cx="457200" cy="320040"/>
          </a:xfrm>
          <a:prstGeom prst="rect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457200" y="532180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1005840" y="532180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来館予定（振り分け）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3931920" y="53218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薄緑のセル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457200" y="5705856"/>
            <a:ext cx="457200" cy="320040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457200" y="5705856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1005840" y="570585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来館なし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3931920" y="570585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空欄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457200" y="6089904"/>
            <a:ext cx="457200" cy="32004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457200" y="6089904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1005840" y="608990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予定だったが記録なし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3931920" y="608990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赤いセル（要確認）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6181344" y="1426464"/>
            <a:ext cx="5650992" cy="24505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4_visit_calendar.jpg" id="386" name="Google Shape;3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5778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6"/>
          <p:cNvSpPr/>
          <p:nvPr/>
        </p:nvSpPr>
        <p:spPr>
          <a:xfrm>
            <a:off x="6181344" y="3986784"/>
            <a:ext cx="2816352" cy="21762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4_calendar_year.jpg" id="388" name="Google Shape;3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6"/>
          <p:cNvSpPr/>
          <p:nvPr/>
        </p:nvSpPr>
        <p:spPr>
          <a:xfrm>
            <a:off x="9015984" y="3986784"/>
            <a:ext cx="2816352" cy="21762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4_calendar_month.jpg" id="390" name="Google Shape;3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0" y="4023360"/>
            <a:ext cx="274320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児童別ビューを見る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特定の児童1人の来館履歴と基本情報を絞り込んで表示します。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児童別ビューを見る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457200" y="868680"/>
            <a:ext cx="2596896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594360" y="8686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保護者報告 / 個別面談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3191256" y="868680"/>
            <a:ext cx="135331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3328416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2〜3分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4681728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4818888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「児童別ビュー」タブをクリック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005840" y="21488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1005840" y="26060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児童名を選ぶ（B1）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1005840" y="29260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プルダウンにない場合は児童マスタ未登録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457200" y="342900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457200" y="3429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1005840" y="33832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対象年を選ぶ（B2）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1005840" y="37033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457200" y="4206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1005840" y="41605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対象月を選ぶ（B3）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1005840" y="44805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457200" y="498348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457200" y="4983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1005840" y="49377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基本情報と来館記録を確認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005840" y="52578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上部：基本情報／下部：来館記録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6181344" y="1426464"/>
            <a:ext cx="5650992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5_child_view.jpg" id="442" name="Google Shape;4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5778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8"/>
          <p:cNvSpPr/>
          <p:nvPr/>
        </p:nvSpPr>
        <p:spPr>
          <a:xfrm>
            <a:off x="6181344" y="3803904"/>
            <a:ext cx="2724912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5_child_select.jpg" id="444" name="Google Shape;4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3840480"/>
            <a:ext cx="265176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8"/>
          <p:cNvSpPr/>
          <p:nvPr/>
        </p:nvSpPr>
        <p:spPr>
          <a:xfrm>
            <a:off x="8970264" y="3803904"/>
            <a:ext cx="2724912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5_child_year.jpg" id="446" name="Google Shape;4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6840" y="3840480"/>
            <a:ext cx="265176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8"/>
          <p:cNvSpPr/>
          <p:nvPr/>
        </p:nvSpPr>
        <p:spPr>
          <a:xfrm>
            <a:off x="6181344" y="5129784"/>
            <a:ext cx="2724912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05_child_month.jpg" id="448" name="Google Shape;44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5166360"/>
            <a:ext cx="265176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8"/>
          <p:cNvSpPr/>
          <p:nvPr/>
        </p:nvSpPr>
        <p:spPr>
          <a:xfrm>
            <a:off x="9006840" y="5166360"/>
            <a:ext cx="2697480" cy="1188720"/>
          </a:xfrm>
          <a:prstGeom prst="rect">
            <a:avLst/>
          </a:prstGeom>
          <a:solidFill>
            <a:srgbClr val="FFF3E7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9144000" y="5212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印刷のポイント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9144000" y="548640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A4横向きで1枚に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収まるよう設計。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ファイル→印刷→A4横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児童を追加する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新しく利用する児童の情報を登録し、フォームと集計へ反映します。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児童を追加する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0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457200" y="868680"/>
            <a:ext cx="2441448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/>
          <p:cNvSpPr/>
          <p:nvPr/>
        </p:nvSpPr>
        <p:spPr>
          <a:xfrm>
            <a:off x="594360" y="868680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新しい児童の利用決定時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3035808" y="868680"/>
            <a:ext cx="135331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0"/>
          <p:cNvSpPr/>
          <p:nvPr/>
        </p:nvSpPr>
        <p:spPr>
          <a:xfrm>
            <a:off x="3172968" y="868680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3〜5分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4526280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4663440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0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1005840" y="18470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「児童マスタ」タブを開く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1005840" y="216712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下部タブから選ぶ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457200" y="2560320"/>
            <a:ext cx="411480" cy="411480"/>
          </a:xfrm>
          <a:prstGeom prst="ellipse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457200" y="2560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1005840" y="25328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空いている行に情報を入力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1005840" y="285292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下にスクロールして入力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457200" y="3246120"/>
            <a:ext cx="411480" cy="411480"/>
          </a:xfrm>
          <a:prstGeom prst="ellipse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457200" y="3246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1005840" y="32186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ドロップダウンを更新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1005840" y="353872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メニュー → 来館管理 → ドロップダウンを更新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入力項目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5" name="Google Shape;495;p20"/>
          <p:cNvGraphicFramePr/>
          <p:nvPr/>
        </p:nvGraphicFramePr>
        <p:xfrm>
          <a:off x="457200" y="4251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1920250"/>
                <a:gridCol w="36576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児童名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例：山田太郎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よみがな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やまだたろう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保護者名／保護者メール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報告メールの送信先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月間利用枠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など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医療型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あり／なし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曜日1〜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月曜日・水曜日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担当スタッフ1／2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プルダウン選択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区分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8A95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7A8A9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プルダウン選択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6" name="Google Shape;496;p20"/>
          <p:cNvSpPr/>
          <p:nvPr/>
        </p:nvSpPr>
        <p:spPr>
          <a:xfrm>
            <a:off x="6181344" y="1426464"/>
            <a:ext cx="5650992" cy="3822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0_children_master.jpg" id="497" name="Google Shape;4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57784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0"/>
          <p:cNvSpPr/>
          <p:nvPr/>
        </p:nvSpPr>
        <p:spPr>
          <a:xfrm>
            <a:off x="6217920" y="5349240"/>
            <a:ext cx="5577840" cy="109728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6217920" y="5349240"/>
            <a:ext cx="109728" cy="109728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6400800" y="53949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大事な注意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6400800" y="5669280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既存の児童の行を並び替え・削除しないでください。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児童名の全角／半角スペースを統一してください。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1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スタッフ情報の登録から、Webビュー用の個別リンク発行までを一気に行います。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全体フロー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457200" y="868680"/>
            <a:ext cx="2596896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594360" y="8686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新スタッフ入社／稼働変更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3191256" y="868680"/>
            <a:ext cx="150876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3328416" y="868680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5〜10分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4837176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"/>
          <p:cNvSpPr/>
          <p:nvPr/>
        </p:nvSpPr>
        <p:spPr>
          <a:xfrm>
            <a:off x="497433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5ステップの流れ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548640" y="2194560"/>
            <a:ext cx="2148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548640" y="2194560"/>
            <a:ext cx="2148840" cy="1828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2"/>
          <p:cNvSpPr/>
          <p:nvPr/>
        </p:nvSpPr>
        <p:spPr>
          <a:xfrm>
            <a:off x="1303020" y="2606040"/>
            <a:ext cx="640080" cy="6400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>
            <a:off x="1303020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640080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スタッフマスタ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に情報入力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2697480" y="30175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2898648" y="2194560"/>
            <a:ext cx="2148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2898648" y="2194560"/>
            <a:ext cx="2148840" cy="1828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2"/>
          <p:cNvSpPr/>
          <p:nvPr/>
        </p:nvSpPr>
        <p:spPr>
          <a:xfrm>
            <a:off x="3653028" y="2606040"/>
            <a:ext cx="640080" cy="6400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2"/>
          <p:cNvSpPr/>
          <p:nvPr/>
        </p:nvSpPr>
        <p:spPr>
          <a:xfrm>
            <a:off x="3653028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2990088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稼働曜日を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5047488" y="30175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5248656" y="2194560"/>
            <a:ext cx="2148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2"/>
          <p:cNvSpPr/>
          <p:nvPr/>
        </p:nvSpPr>
        <p:spPr>
          <a:xfrm>
            <a:off x="5248656" y="2194560"/>
            <a:ext cx="2148840" cy="18288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2"/>
          <p:cNvSpPr/>
          <p:nvPr/>
        </p:nvSpPr>
        <p:spPr>
          <a:xfrm>
            <a:off x="6003036" y="2606040"/>
            <a:ext cx="640080" cy="640080"/>
          </a:xfrm>
          <a:prstGeom prst="ellipse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2"/>
          <p:cNvSpPr/>
          <p:nvPr/>
        </p:nvSpPr>
        <p:spPr>
          <a:xfrm>
            <a:off x="6003036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5340096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メール追加＆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トークン発行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7397496" y="30175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7598664" y="2194560"/>
            <a:ext cx="2148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2"/>
          <p:cNvSpPr/>
          <p:nvPr/>
        </p:nvSpPr>
        <p:spPr>
          <a:xfrm>
            <a:off x="7598664" y="2194560"/>
            <a:ext cx="2148840" cy="18288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2"/>
          <p:cNvSpPr/>
          <p:nvPr/>
        </p:nvSpPr>
        <p:spPr>
          <a:xfrm>
            <a:off x="8353044" y="2606040"/>
            <a:ext cx="640080" cy="640080"/>
          </a:xfrm>
          <a:prstGeom prst="ellipse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8353044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7690104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トークン貼り付け＆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チェックボックス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9747504" y="301752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9948672" y="2194560"/>
            <a:ext cx="214884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2"/>
          <p:cNvSpPr/>
          <p:nvPr/>
        </p:nvSpPr>
        <p:spPr>
          <a:xfrm>
            <a:off x="9948672" y="2194560"/>
            <a:ext cx="2148840" cy="182880"/>
          </a:xfrm>
          <a:prstGeom prst="rect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"/>
          <p:cNvSpPr/>
          <p:nvPr/>
        </p:nvSpPr>
        <p:spPr>
          <a:xfrm>
            <a:off x="10703052" y="2606040"/>
            <a:ext cx="640080" cy="640080"/>
          </a:xfrm>
          <a:prstGeom prst="ellipse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2"/>
          <p:cNvSpPr/>
          <p:nvPr/>
        </p:nvSpPr>
        <p:spPr>
          <a:xfrm>
            <a:off x="10703052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10040112" y="3429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ドロップダウン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更新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"/>
          <p:cNvSpPr/>
          <p:nvPr/>
        </p:nvSpPr>
        <p:spPr>
          <a:xfrm>
            <a:off x="457200" y="4754880"/>
            <a:ext cx="109728" cy="164592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2"/>
          <p:cNvSpPr/>
          <p:nvPr/>
        </p:nvSpPr>
        <p:spPr>
          <a:xfrm>
            <a:off x="685800" y="4800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重要：トークンは必ず「値貼り付け」を！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685800" y="516636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トークンは数式で自動生成されます。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値として貼り付けることで、今後シートを再計算してもトークンが変わらなくなります。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これをしないと、スタッフのリンクが ある日突然使えなくなる ことがあります。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3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スタッフマスタ／② 稼働曜日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① スタッフマスタに情報を入力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8" name="Google Shape;578;p23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1463050"/>
                <a:gridCol w="2286000"/>
                <a:gridCol w="18288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列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入力内容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スタッフ名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フルネーム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田中一郎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よみがな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ひらがな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たなかいちろう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区分1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プルダウン選択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正社員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区分2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プルダウン選択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保育士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579" name="Google Shape;579;p23"/>
          <p:cNvSpPr/>
          <p:nvPr/>
        </p:nvSpPr>
        <p:spPr>
          <a:xfrm>
            <a:off x="6181344" y="877824"/>
            <a:ext cx="5650992" cy="2633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1_staff_master_tokens.jpg" id="580" name="Google Shape;5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914400"/>
            <a:ext cx="557784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3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② 稼働曜日を設定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457200" y="411480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同じ行の </a:t>
            </a:r>
            <a:r>
              <a:rPr b="1" i="0" lang="en-US" sz="11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曜日1〜曜日5</a:t>
            </a: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に、そのスタッフが働く曜日をプルダウンから選択。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3" name="Google Shape;583;p23"/>
          <p:cNvGraphicFramePr/>
          <p:nvPr/>
        </p:nvGraphicFramePr>
        <p:xfrm>
          <a:off x="457200" y="4663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1828800"/>
                <a:gridCol w="37490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スタッフ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7A5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7A5B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溝口照代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月曜日・金曜日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三國谷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水曜日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川田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月曜日・火曜日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4" name="Google Shape;584;p23"/>
          <p:cNvSpPr/>
          <p:nvPr/>
        </p:nvSpPr>
        <p:spPr>
          <a:xfrm>
            <a:off x="6181344" y="3712464"/>
            <a:ext cx="5650992" cy="2724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1b_staff_schedule.jpg" id="585" name="Google Shape;58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3749040"/>
            <a:ext cx="5577840" cy="265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4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4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許可ユーザーでメール＆トークン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4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③ 許可ユーザーシートでトークン発行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457200" y="1371600"/>
            <a:ext cx="55778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4"/>
          <p:cNvSpPr/>
          <p:nvPr/>
        </p:nvSpPr>
        <p:spPr>
          <a:xfrm>
            <a:off x="457200" y="1371600"/>
            <a:ext cx="731520" cy="32004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"/>
          <p:cNvSpPr/>
          <p:nvPr/>
        </p:nvSpPr>
        <p:spPr>
          <a:xfrm>
            <a:off x="457200" y="13716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1280160" y="138988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「許可ユーザー」タブをクリック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vibrant-eloquent-babbage/mnt/outputs/images_opt/11_staff_users_tab.jpg" id="603" name="Google Shape;6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53949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4"/>
          <p:cNvSpPr/>
          <p:nvPr/>
        </p:nvSpPr>
        <p:spPr>
          <a:xfrm>
            <a:off x="6126480" y="1371600"/>
            <a:ext cx="55778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4"/>
          <p:cNvSpPr/>
          <p:nvPr/>
        </p:nvSpPr>
        <p:spPr>
          <a:xfrm>
            <a:off x="6126480" y="1371600"/>
            <a:ext cx="731520" cy="32004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4"/>
          <p:cNvSpPr/>
          <p:nvPr/>
        </p:nvSpPr>
        <p:spPr>
          <a:xfrm>
            <a:off x="6126480" y="13716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6949440" y="138988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メール列にアドレスを入力 → トークン自動生成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vibrant-eloquent-babbage/mnt/outputs/images_opt/11_staff_email.jpg" id="608" name="Google Shape;6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783080"/>
            <a:ext cx="53949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4"/>
          <p:cNvSpPr/>
          <p:nvPr/>
        </p:nvSpPr>
        <p:spPr>
          <a:xfrm>
            <a:off x="457200" y="3840480"/>
            <a:ext cx="55778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4"/>
          <p:cNvSpPr/>
          <p:nvPr/>
        </p:nvSpPr>
        <p:spPr>
          <a:xfrm>
            <a:off x="457200" y="3840480"/>
            <a:ext cx="731520" cy="32004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4"/>
          <p:cNvSpPr/>
          <p:nvPr/>
        </p:nvSpPr>
        <p:spPr>
          <a:xfrm>
            <a:off x="457200" y="38404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③-3 / ③-4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1280160" y="385876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トークンをコピー → 値として貼り付け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vibrant-eloquent-babbage/mnt/outputs/images_opt/11_staff_token_copy.jpg" id="613" name="Google Shape;6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4251960"/>
            <a:ext cx="53949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4"/>
          <p:cNvSpPr/>
          <p:nvPr/>
        </p:nvSpPr>
        <p:spPr>
          <a:xfrm>
            <a:off x="6126480" y="3840480"/>
            <a:ext cx="557784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4"/>
          <p:cNvSpPr/>
          <p:nvPr/>
        </p:nvSpPr>
        <p:spPr>
          <a:xfrm>
            <a:off x="6126480" y="3840480"/>
            <a:ext cx="731520" cy="32004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6126480" y="38404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6949440" y="385876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E列（有効）にチェック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vibrant-eloquent-babbage/mnt/outputs/images_opt/11_staff_enable.jpg" id="618" name="Google Shape;6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4251960"/>
            <a:ext cx="53949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2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solidFill>
            <a:srgbClr val="77A5B2">
              <a:alpha val="20000"/>
            </a:srgbClr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 ④ </a:t>
            </a: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許可ユーザーのURL列のリンクをスタッフに共有    </a:t>
            </a:r>
            <a:r>
              <a:rPr b="1" i="0" lang="en-US" sz="11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⑤ </a:t>
            </a: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メニュー → 来館管理 → ドロップダウンを更新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5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5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5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スタッフを追加する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③-4 トークン値貼り付けの手順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5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トークン貼り付け：右クリック → 特殊貼り付け → 値のみ貼り付け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420624" y="1380744"/>
            <a:ext cx="5650992" cy="3913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1_staff_token_paste.jpg" id="635" name="Google Shape;6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17320"/>
            <a:ext cx="55778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5"/>
          <p:cNvSpPr/>
          <p:nvPr/>
        </p:nvSpPr>
        <p:spPr>
          <a:xfrm>
            <a:off x="6089904" y="1380744"/>
            <a:ext cx="5650992" cy="3913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1_staff_link.jpg" id="637" name="Google Shape;6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417320"/>
            <a:ext cx="55778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/>
          <p:nvPr/>
        </p:nvSpPr>
        <p:spPr>
          <a:xfrm>
            <a:off x="457200" y="5394960"/>
            <a:ext cx="11247120" cy="105156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457200" y="5394960"/>
            <a:ext cx="109728" cy="105156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5"/>
          <p:cNvSpPr/>
          <p:nvPr/>
        </p:nvSpPr>
        <p:spPr>
          <a:xfrm>
            <a:off x="685800" y="5440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なぜ値貼り付けが必要？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685800" y="576072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トークンは数式で自動生成されるため、再計算でトークンが変わると、スタッフのリンクが突然使えなくなります。値貼り付けでトークンを固定してください。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6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定型文を編集する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6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フォームの「連絡事項」でよく使う文言を登録しておきます。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7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定型文を編集する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7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7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457200" y="868680"/>
            <a:ext cx="228600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594360" y="86868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いつ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よく使う文言を追加時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2880360" y="868680"/>
            <a:ext cx="1042416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7"/>
          <p:cNvSpPr/>
          <p:nvPr/>
        </p:nvSpPr>
        <p:spPr>
          <a:xfrm>
            <a:off x="3017520" y="868680"/>
            <a:ext cx="859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時間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3分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4059936" y="868680"/>
            <a:ext cx="1975104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4197096" y="868680"/>
            <a:ext cx="17922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担当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管理担当スタッフ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7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1005840" y="1828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「定型文マスタ」タブをクリック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1005840" y="21488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457200" y="269748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7"/>
          <p:cNvSpPr/>
          <p:nvPr/>
        </p:nvSpPr>
        <p:spPr>
          <a:xfrm>
            <a:off x="457200" y="2697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1005840" y="26517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A列に一文ずつ入力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1005840" y="29718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長文を1行に詰め込まない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7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1005840" y="34747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ドロップダウンを更新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1005840" y="379476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メニュー → 来館管理 → ドロップダウンを更新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登録例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457200" y="4709160"/>
            <a:ext cx="5577840" cy="274320"/>
          </a:xfrm>
          <a:prstGeom prst="rect">
            <a:avLst/>
          </a:prstGeom>
          <a:solidFill>
            <a:srgbClr val="F2F5F6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楽しく過ごされていました。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457200" y="5010912"/>
            <a:ext cx="5577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548640" y="501091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プールで遊ばれてました。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457200" y="5312664"/>
            <a:ext cx="5577840" cy="274320"/>
          </a:xfrm>
          <a:prstGeom prst="rect">
            <a:avLst/>
          </a:prstGeom>
          <a:solidFill>
            <a:srgbClr val="F2F5F6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548640" y="5312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少し元気がないご様子でした。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457200" y="5614416"/>
            <a:ext cx="5577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548640" y="561441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食欲は普段通りでした。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457200" y="5916168"/>
            <a:ext cx="5577840" cy="274320"/>
          </a:xfrm>
          <a:prstGeom prst="rect">
            <a:avLst/>
          </a:prstGeom>
          <a:solidFill>
            <a:srgbClr val="F2F5F6"/>
          </a:solidFill>
          <a:ln cap="flat" cmpd="sng" w="9525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548640" y="5916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体調を崩されていました。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6181344" y="1426464"/>
            <a:ext cx="5650992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2_template_master.jpg" id="696" name="Google Shape;6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57784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27"/>
          <p:cNvSpPr/>
          <p:nvPr/>
        </p:nvSpPr>
        <p:spPr>
          <a:xfrm>
            <a:off x="6181344" y="3895344"/>
            <a:ext cx="5650992" cy="2542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2_template_input.jpg" id="698" name="Google Shape;6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3931920"/>
            <a:ext cx="5577840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8"/>
          <p:cNvSpPr/>
          <p:nvPr/>
        </p:nvSpPr>
        <p:spPr>
          <a:xfrm>
            <a:off x="548640" y="12801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0"/>
              <a:buFont typeface="Arial"/>
              <a:buNone/>
            </a:pPr>
            <a:r>
              <a:rPr b="1" i="0" lang="en-US" sz="240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2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5486400" y="2743200"/>
            <a:ext cx="109728" cy="1828800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8"/>
          <p:cNvSpPr/>
          <p:nvPr/>
        </p:nvSpPr>
        <p:spPr>
          <a:xfrm>
            <a:off x="576072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A87C"/>
                </a:solidFill>
                <a:latin typeface="Arial"/>
                <a:ea typeface="Arial"/>
                <a:cs typeface="Arial"/>
                <a:sym typeface="Arial"/>
              </a:rPr>
              <a:t>CHAPTER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57607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設定を変更する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5760720" y="397764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システム全体の基本設定（メール文面・営業日など）を変更します。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A5B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7A5B2"/>
                </a:solidFill>
                <a:latin typeface="Arial"/>
                <a:ea typeface="Arial"/>
                <a:cs typeface="Arial"/>
                <a:sym typeface="Arial"/>
              </a:rPr>
              <a:t>Yorimado 来館記録管理マニュアル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9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9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9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9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設定を変更する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手順と設定項目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9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9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9"/>
          <p:cNvSpPr/>
          <p:nvPr/>
        </p:nvSpPr>
        <p:spPr>
          <a:xfrm>
            <a:off x="457200" y="822960"/>
            <a:ext cx="109728" cy="50292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9"/>
          <p:cNvSpPr/>
          <p:nvPr/>
        </p:nvSpPr>
        <p:spPr>
          <a:xfrm>
            <a:off x="685800" y="8229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管理者専用  </a:t>
            </a: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設定を誤ると全児童の振り分けやメール送信が止まる可能性があります。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9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手順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9"/>
          <p:cNvSpPr/>
          <p:nvPr/>
        </p:nvSpPr>
        <p:spPr>
          <a:xfrm>
            <a:off x="457200" y="1920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1005840" y="189280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「設定」タブをクリック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1005840" y="221284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9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9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9"/>
          <p:cNvSpPr/>
          <p:nvPr/>
        </p:nvSpPr>
        <p:spPr>
          <a:xfrm>
            <a:off x="1005840" y="257860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B列の値だけを変更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9"/>
          <p:cNvSpPr/>
          <p:nvPr/>
        </p:nvSpPr>
        <p:spPr>
          <a:xfrm>
            <a:off x="1005840" y="289864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A列の項目名は絶対に変えない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9"/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主な設定項目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5" name="Google Shape;735;p29"/>
          <p:cNvGraphicFramePr/>
          <p:nvPr/>
        </p:nvGraphicFramePr>
        <p:xfrm>
          <a:off x="457200" y="374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{72552EF9-BA63-41EA-8549-83D43F13FCEF}</a:tableStyleId>
              </a:tblPr>
              <a:tblGrid>
                <a:gridCol w="3474725"/>
                <a:gridCol w="21031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項目名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変更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5F74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デフォルト入所時間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デフォルト退所時間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メール件名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文言のみ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メール本文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文言のみ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営業日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 慎重に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5F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休業日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C3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 慎重に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0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6" name="Google Shape;736;p29"/>
          <p:cNvSpPr/>
          <p:nvPr/>
        </p:nvSpPr>
        <p:spPr>
          <a:xfrm>
            <a:off x="6181344" y="1426464"/>
            <a:ext cx="5650992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3_settings.jpg" id="737" name="Google Shape;7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463040"/>
            <a:ext cx="557784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29"/>
          <p:cNvSpPr/>
          <p:nvPr/>
        </p:nvSpPr>
        <p:spPr>
          <a:xfrm>
            <a:off x="6181344" y="3849624"/>
            <a:ext cx="5650992" cy="25877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vibrant-eloquent-babbage/mnt/outputs/images_opt/13_settings_edit.jpg" id="739" name="Google Shape;73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3886200"/>
            <a:ext cx="557784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0"/>
          <p:cNvSpPr/>
          <p:nvPr/>
        </p:nvSpPr>
        <p:spPr>
          <a:xfrm>
            <a:off x="365760" y="155448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0"/>
          <p:cNvSpPr/>
          <p:nvPr/>
        </p:nvSpPr>
        <p:spPr>
          <a:xfrm>
            <a:off x="118872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設定を変更する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メール本文のプレースホルダ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0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メール本文のプレースホルダ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0"/>
          <p:cNvSpPr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送信時に以下が自動で置き換わります。名前は絶対に変更しないでください。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0"/>
          <p:cNvSpPr/>
          <p:nvPr/>
        </p:nvSpPr>
        <p:spPr>
          <a:xfrm>
            <a:off x="457200" y="1920240"/>
            <a:ext cx="5486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0"/>
          <p:cNvSpPr/>
          <p:nvPr/>
        </p:nvSpPr>
        <p:spPr>
          <a:xfrm>
            <a:off x="457200" y="1920240"/>
            <a:ext cx="1737360" cy="59436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0"/>
          <p:cNvSpPr/>
          <p:nvPr/>
        </p:nvSpPr>
        <p:spPr>
          <a:xfrm>
            <a:off x="502920" y="19202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{保護者名}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0"/>
          <p:cNvSpPr/>
          <p:nvPr/>
        </p:nvSpPr>
        <p:spPr>
          <a:xfrm>
            <a:off x="2331720" y="19202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その児童の保護者名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6217920" y="1920240"/>
            <a:ext cx="5486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0"/>
          <p:cNvSpPr/>
          <p:nvPr/>
        </p:nvSpPr>
        <p:spPr>
          <a:xfrm>
            <a:off x="6217920" y="1920240"/>
            <a:ext cx="1737360" cy="59436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0"/>
          <p:cNvSpPr/>
          <p:nvPr/>
        </p:nvSpPr>
        <p:spPr>
          <a:xfrm>
            <a:off x="6263640" y="19202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{日付}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0"/>
          <p:cNvSpPr/>
          <p:nvPr/>
        </p:nvSpPr>
        <p:spPr>
          <a:xfrm>
            <a:off x="8092440" y="19202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来館日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0"/>
          <p:cNvSpPr/>
          <p:nvPr/>
        </p:nvSpPr>
        <p:spPr>
          <a:xfrm>
            <a:off x="457200" y="2606040"/>
            <a:ext cx="5486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0"/>
          <p:cNvSpPr/>
          <p:nvPr/>
        </p:nvSpPr>
        <p:spPr>
          <a:xfrm>
            <a:off x="457200" y="2606040"/>
            <a:ext cx="1737360" cy="59436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0"/>
          <p:cNvSpPr/>
          <p:nvPr/>
        </p:nvSpPr>
        <p:spPr>
          <a:xfrm>
            <a:off x="502920" y="26060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{児童名}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0"/>
          <p:cNvSpPr/>
          <p:nvPr/>
        </p:nvSpPr>
        <p:spPr>
          <a:xfrm>
            <a:off x="2331720" y="26060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児童の名前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0"/>
          <p:cNvSpPr/>
          <p:nvPr/>
        </p:nvSpPr>
        <p:spPr>
          <a:xfrm>
            <a:off x="6217920" y="2606040"/>
            <a:ext cx="5486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0"/>
          <p:cNvSpPr/>
          <p:nvPr/>
        </p:nvSpPr>
        <p:spPr>
          <a:xfrm>
            <a:off x="6217920" y="2606040"/>
            <a:ext cx="1737360" cy="59436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0"/>
          <p:cNvSpPr/>
          <p:nvPr/>
        </p:nvSpPr>
        <p:spPr>
          <a:xfrm>
            <a:off x="6263640" y="26060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{入所時間}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0"/>
          <p:cNvSpPr/>
          <p:nvPr/>
        </p:nvSpPr>
        <p:spPr>
          <a:xfrm>
            <a:off x="8092440" y="26060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入所時刻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0"/>
          <p:cNvSpPr/>
          <p:nvPr/>
        </p:nvSpPr>
        <p:spPr>
          <a:xfrm>
            <a:off x="457200" y="3291840"/>
            <a:ext cx="5486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0"/>
          <p:cNvSpPr/>
          <p:nvPr/>
        </p:nvSpPr>
        <p:spPr>
          <a:xfrm>
            <a:off x="457200" y="3291840"/>
            <a:ext cx="1737360" cy="59436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0"/>
          <p:cNvSpPr/>
          <p:nvPr/>
        </p:nvSpPr>
        <p:spPr>
          <a:xfrm>
            <a:off x="502920" y="32918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{退所時間}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2331720" y="32918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退所時刻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0"/>
          <p:cNvSpPr/>
          <p:nvPr/>
        </p:nvSpPr>
        <p:spPr>
          <a:xfrm>
            <a:off x="6217920" y="3291840"/>
            <a:ext cx="5486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0"/>
          <p:cNvSpPr/>
          <p:nvPr/>
        </p:nvSpPr>
        <p:spPr>
          <a:xfrm>
            <a:off x="6217920" y="3291840"/>
            <a:ext cx="1737360" cy="59436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0"/>
          <p:cNvSpPr/>
          <p:nvPr/>
        </p:nvSpPr>
        <p:spPr>
          <a:xfrm>
            <a:off x="6263640" y="329184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{体温}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0"/>
          <p:cNvSpPr/>
          <p:nvPr/>
        </p:nvSpPr>
        <p:spPr>
          <a:xfrm>
            <a:off x="8092440" y="3291840"/>
            <a:ext cx="3520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体温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0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0"/>
          <p:cNvSpPr/>
          <p:nvPr/>
        </p:nvSpPr>
        <p:spPr>
          <a:xfrm>
            <a:off x="457200" y="4434840"/>
            <a:ext cx="109728" cy="192024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0"/>
          <p:cNvSpPr/>
          <p:nvPr/>
        </p:nvSpPr>
        <p:spPr>
          <a:xfrm>
            <a:off x="685800" y="4526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絶対に変えてはいけないもの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0"/>
          <p:cNvSpPr/>
          <p:nvPr/>
        </p:nvSpPr>
        <p:spPr>
          <a:xfrm>
            <a:off x="685800" y="489204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A列の項目名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プレースホルダの名前（{保護者名} {日付} など）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設定シートのシート名そのもの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色付きセルや結合セル（見出しやラベル）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1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1"/>
          <p:cNvSpPr/>
          <p:nvPr/>
        </p:nvSpPr>
        <p:spPr>
          <a:xfrm>
            <a:off x="365760" y="1554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まとめ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155448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Troubleshooting &amp; Rules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5303520" y="914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困ったとき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D9E0E2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1"/>
          <p:cNvSpPr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Yorimado スプレッドシート利用手順書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F7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85F74"/>
                </a:solidFill>
                <a:latin typeface="Arial"/>
                <a:ea typeface="Arial"/>
                <a:cs typeface="Arial"/>
                <a:sym typeface="Arial"/>
              </a:rPr>
              <a:t>困ったときは、まずこの3つ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457200" y="1554480"/>
            <a:ext cx="374904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1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1"/>
          <p:cNvSpPr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73152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スプレッドシートを開き直す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731520" y="288036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タブを一度閉じて、もう一度開くだけで直ることが多い。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1"/>
          <p:cNvSpPr/>
          <p:nvPr/>
        </p:nvSpPr>
        <p:spPr>
          <a:xfrm>
            <a:off x="4343400" y="1554480"/>
            <a:ext cx="374904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1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rgbClr val="77A5B2"/>
          </a:solidFill>
          <a:ln cap="flat" cmpd="sng" w="12700">
            <a:solidFill>
              <a:srgbClr val="77A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1"/>
          <p:cNvSpPr/>
          <p:nvPr/>
        </p:nvSpPr>
        <p:spPr>
          <a:xfrm>
            <a:off x="461772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461772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対象年月を確認する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1"/>
          <p:cNvSpPr/>
          <p:nvPr/>
        </p:nvSpPr>
        <p:spPr>
          <a:xfrm>
            <a:off x="4617720" y="288036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プルダウンが「すべて」になっていないか確認。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1"/>
          <p:cNvSpPr/>
          <p:nvPr/>
        </p:nvSpPr>
        <p:spPr>
          <a:xfrm>
            <a:off x="8229600" y="1554480"/>
            <a:ext cx="374904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1"/>
          <p:cNvSpPr/>
          <p:nvPr/>
        </p:nvSpPr>
        <p:spPr>
          <a:xfrm>
            <a:off x="8503920" y="1783080"/>
            <a:ext cx="640080" cy="640080"/>
          </a:xfrm>
          <a:prstGeom prst="ellipse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1"/>
          <p:cNvSpPr/>
          <p:nvPr/>
        </p:nvSpPr>
        <p:spPr>
          <a:xfrm>
            <a:off x="850392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1"/>
          <p:cNvSpPr/>
          <p:nvPr/>
        </p:nvSpPr>
        <p:spPr>
          <a:xfrm>
            <a:off x="8503920" y="2514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管理者に連絡する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/>
          <p:nvPr/>
        </p:nvSpPr>
        <p:spPr>
          <a:xfrm>
            <a:off x="8503920" y="288036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A95"/>
                </a:solidFill>
                <a:latin typeface="Arial"/>
                <a:ea typeface="Arial"/>
                <a:cs typeface="Arial"/>
                <a:sym typeface="Arial"/>
              </a:rPr>
              <a:t>上記で解決しない場合は無理せず管理者に相談。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1"/>
          <p:cNvSpPr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1"/>
          <p:cNvSpPr/>
          <p:nvPr/>
        </p:nvSpPr>
        <p:spPr>
          <a:xfrm>
            <a:off x="457200" y="4023360"/>
            <a:ext cx="109728" cy="2286000"/>
          </a:xfrm>
          <a:prstGeom prst="rect">
            <a:avLst/>
          </a:prstGeom>
          <a:solidFill>
            <a:srgbClr val="D9534F"/>
          </a:solidFill>
          <a:ln cap="flat" cmpd="sng" w="12700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1"/>
          <p:cNvSpPr/>
          <p:nvPr/>
        </p:nvSpPr>
        <p:spPr>
          <a:xfrm>
            <a:off x="68580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大事なお願い：以下は触らないでください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1"/>
          <p:cNvSpPr/>
          <p:nvPr/>
        </p:nvSpPr>
        <p:spPr>
          <a:xfrm>
            <a:off x="685800" y="448056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設定シートの値（メール文面を変えたいときだけ13章を参照）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確定来館記録の「データ区分」列（実データと振り分けの大事な印）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月別集計・来館カレンダーの表の中の数字（自動計算）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ログシート（エラー記録が自動で入る場所）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52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2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285F74"/>
          </a:solidFill>
          <a:ln cap="flat" cmpd="sng" w="12700">
            <a:solidFill>
              <a:srgbClr val="285F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2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E8A87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2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ご活用ください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2E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FE2E9"/>
                </a:solidFill>
                <a:latin typeface="Arial"/>
                <a:ea typeface="Arial"/>
                <a:cs typeface="Arial"/>
                <a:sym typeface="Arial"/>
              </a:rPr>
              <a:t>この手順書でカバーできない内容は、いつでもご相談ください。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2"/>
          <p:cNvSpPr/>
          <p:nvPr/>
        </p:nvSpPr>
        <p:spPr>
          <a:xfrm>
            <a:off x="5547208" y="4023360"/>
            <a:ext cx="1097280" cy="36576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