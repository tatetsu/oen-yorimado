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552EF9-BA63-41EA-8549-83D43F13FCEF}">
  <a:tblStyle styleId="{72552EF9-BA63-41EA-8549-83D43F13FC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95" d="100"/>
          <a:sy n="95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5" name="Google Shape;46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5" name="Google Shape;51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8" name="Google Shape;58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3" name="Google Shape;62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4" name="Google Shape;64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5" name="Google Shape;655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1" name="Google Shape;70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2" name="Google Shape;71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2" name="Google Shape;74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4" name="Google Shape;784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6" name="Google Shape;81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5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534095" y="-1828800"/>
            <a:ext cx="5486400" cy="548640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905695" y="4114800"/>
            <a:ext cx="3657600" cy="3657600"/>
          </a:xfrm>
          <a:prstGeom prst="ellipse">
            <a:avLst/>
          </a:prstGeom>
          <a:solidFill>
            <a:srgbClr val="E8A87C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1280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MANUAL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1737360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Yorimado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274320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来館記録管理マニュアル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3657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スプレッドシートの使い方を、画像付きでやさしく解説します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4297680"/>
            <a:ext cx="1097280" cy="36576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822960" y="60350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O-EN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REDEFINE YOUR PROCESS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目次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目次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1508760"/>
            <a:ext cx="548640" cy="5486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57200" y="1828800"/>
            <a:ext cx="73152" cy="36576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40080" y="18288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毎日・毎月の作業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2286000"/>
            <a:ext cx="53035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43000" y="23317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フォーム回答を確認する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143000" y="257860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毎日、フォーム送信後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2926080"/>
            <a:ext cx="53035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48640" y="2926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143000" y="2971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月別集計を見る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143000" y="321868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毎月、利用状況の確認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" y="3566160"/>
            <a:ext cx="53035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48640" y="35661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143000" y="3611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確定来館記録を見る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143000" y="385876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毎月、実績を確認する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57200" y="4206240"/>
            <a:ext cx="53035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548640" y="4206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143000" y="4251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来館カレンダーを見る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143000" y="44988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カレンダー形式で把握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57200" y="4846320"/>
            <a:ext cx="53035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548640" y="48463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143000" y="4892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児童別ビューを見る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1143000" y="513892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保護者報告・個別確認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400800" y="1828800"/>
            <a:ext cx="73152" cy="365760"/>
          </a:xfrm>
          <a:prstGeom prst="rect">
            <a:avLst/>
          </a:prstGeom>
          <a:solidFill>
            <a:srgbClr val="77A5B2"/>
          </a:solidFill>
          <a:ln w="12700" cap="flat" cmpd="sng">
            <a:solidFill>
              <a:srgbClr val="77A5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6583680" y="18288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登録・設定を変えるとき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400800" y="2286000"/>
            <a:ext cx="53035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6492240" y="22860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7086600" y="23317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児童を追加する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086600" y="257860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新しい児童の利用が決まったとき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400800" y="2926080"/>
            <a:ext cx="53035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6492240" y="2926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7086600" y="2971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スタッフを追加する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7086600" y="321868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新しいスタッフが入ったとき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400800" y="3566160"/>
            <a:ext cx="53035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6492240" y="35661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086600" y="3611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定型文を編集する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086600" y="385876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連絡事項の文言を増やすとき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400800" y="4206240"/>
            <a:ext cx="53035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6492240" y="4206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7086600" y="4251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設定を変更する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7086600" y="44988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メール文面や基本設定の変更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365760" y="155448"/>
            <a:ext cx="1005840" cy="32918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365760" y="15544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はじめに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55448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You Start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読み方ガイド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この手順書の読み方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463040" y="19659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毎日・毎月やること（01〜05）</a:t>
            </a:r>
            <a:r>
              <a:rPr lang="en-US" sz="14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から順に読むと、普段の作業の流れが分かります。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7200" y="2926080"/>
            <a:ext cx="11247120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rgbClr val="77A5B2"/>
          </a:solidFill>
          <a:ln w="12700" cap="flat" cmpd="sng">
            <a:solidFill>
              <a:srgbClr val="77A5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731520" y="31089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463040" y="3063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登録や設定を変えるとき（10〜13）</a:t>
            </a:r>
            <a:r>
              <a:rPr lang="en-US" sz="14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は、必要になったときだけ開いてください。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731520" y="4206240"/>
            <a:ext cx="548640" cy="548640"/>
          </a:xfrm>
          <a:prstGeom prst="ellipse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731520" y="4206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463040" y="41605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画像は実際の画面と同じもの</a:t>
            </a:r>
            <a:r>
              <a:rPr lang="en-US" sz="14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です。赤い枠で囲まれている場所が「クリックする場所」です。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FF3E7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57200" y="5394960"/>
            <a:ext cx="109728" cy="1005840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85800" y="54864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困ったら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85800" y="58064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スプレッドシートを開き直す／対象年月が「すべて」になっていないか確認する／それでも直らないときは管理者に連絡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365760" y="155448"/>
            <a:ext cx="1005840" cy="32918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365760" y="15544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はじめに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55448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You Start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画面の全体像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スプレッドシートのタブ一覧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7200" y="13258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下のようにたくさんのタブが並んでいます。それぞれが「シート」と呼ばれる1つのページです。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2" name="Google Shape;122;p6"/>
          <p:cNvGraphicFramePr/>
          <p:nvPr/>
        </p:nvGraphicFramePr>
        <p:xfrm>
          <a:off x="457200" y="1783080"/>
          <a:ext cx="11247125" cy="4526250"/>
        </p:xfrm>
        <a:graphic>
          <a:graphicData uri="http://schemas.openxmlformats.org/drawingml/2006/table">
            <a:tbl>
              <a:tblPr>
                <a:noFill/>
                <a:tableStyleId>{72552EF9-BA63-41EA-8549-83D43F13FCEF}</a:tableStyleId>
              </a:tblPr>
              <a:tblGrid>
                <a:gridCol w="292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タブ名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5F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何のためのシート？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5F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未記入児童一覧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来館予定なのにフォーム送信されていない児童を確認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フォームの回答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スタッフが送信したフォーム回答が集まる場所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→マスタ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マスタ関連の見出し（クリック不要）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メール文面や営業日などの基本設定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許可ユーザー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スタッフ用リンク（トークン）を発行する場所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児童マスタ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児童の基本情報を登録する場所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スタッフマスタ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スタッフの基本情報と稼働日を登録する場所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定型文マスタ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連絡事項でよく使う文言を登録する場所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→集計結果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集計関連の見出し（クリック不要）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月別集計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月ごとの利用状況をまとめたシート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確定来館記録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実際の来館記録と振り分け予測をまとめたシート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来館カレンダー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カレンダー形式で来館状況を見るシート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児童別ビュー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特定の児童の記録だけを絞り込んで見るシート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ログ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エラー記録（普段は見なくてOK）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52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0"/>
              <a:buFont typeface="Arial"/>
              <a:buNone/>
            </a:pPr>
            <a:r>
              <a:rPr lang="en-US" sz="240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486400" y="2743200"/>
            <a:ext cx="109728" cy="1828800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5760720" y="2468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CHAPTER 01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760720" y="28346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フォーム回答を確認する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760720" y="397764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スタッフが送信した来館記録が正しく反映されているか、毎日チェックしよう。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Yorimado 来館記録管理マニュアル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フォーム回答を確認する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57200" y="868680"/>
            <a:ext cx="228600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594360" y="86868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いつ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毎日 フォーム送信後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2880360" y="868680"/>
            <a:ext cx="1042416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3017520" y="868680"/>
            <a:ext cx="8595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時間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1分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059936" y="868680"/>
            <a:ext cx="1975104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197096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担当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日誌担当スタッフ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051560" y="184708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「フォームの回答」シートを開く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051560" y="219456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スプレッドシート下部のタブから「フォームの回答」をクリック。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051560" y="285292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送信内容が上から順に並ぶ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051560" y="320040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タイムスタンプ（送信日）・スタッフ名・児童名・入退所日時などが自動入力されます。本シートはスタッフ用_回答シートからIMPORTRANGEで参照する読取専用シートです。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1051560" y="385876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表示されていないとき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051560" y="420624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スプレッドシートを開き直す → ダメなら管理者に連絡。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181344" y="1426464"/>
            <a:ext cx="5650992" cy="39136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6" name="Google Shape;166;p8" descr="/sessions/vibrant-eloquent-babbage/mnt/outputs/images_opt/01_form_respons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7920" y="1463040"/>
            <a:ext cx="557784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solidFill>
            <a:srgbClr val="FFF3E7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457200" y="5577840"/>
            <a:ext cx="109728" cy="914400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685800" y="56235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送信タイミングと修正方法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85800" y="59436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送信は退所した翌朝に1件のみ。フォーム送信日のタイムスタンプが利用日として扱われ、毎朝8時に過去24時間以内のフォーム送信を対象に保護者メールが自動送信されます。誤送信はスプレッドシートを直接書き換えず、Webビュー（修正ツール）で修正・削除してください。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52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0"/>
              <a:buFont typeface="Arial"/>
              <a:buNone/>
            </a:pPr>
            <a:r>
              <a:rPr lang="en-US" sz="240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486400" y="2743200"/>
            <a:ext cx="109728" cy="1828800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5760720" y="2468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CHAPTER 02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760720" y="28346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月別集計を見る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760720" y="397764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児童ごとの利用枠・来館数・残数・利用率を一覧で確認します。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Yorimado 来館記録管理マニュアル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月別集計を見る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457200" y="868680"/>
            <a:ext cx="2130552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594360" y="868680"/>
            <a:ext cx="1947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いつ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毎月（振り返り時）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2724912" y="868680"/>
            <a:ext cx="1353312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2862072" y="868680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時間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1〜2分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215384" y="868680"/>
            <a:ext cx="1975104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4352544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担当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管理担当スタッフ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1005840" y="18288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「月別集計」タブをクリック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1005840" y="214884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スプレッドシート下部のタブから選ぶ。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57200" y="274320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457200" y="27432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1005840" y="269748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対象年を選ぶ（B1セル）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1005840" y="301752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プルダウンから見たい年を選択（例：2026年）。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57200" y="361188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457200" y="36118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1005840" y="35661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対象月を選ぶ（B2セル）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1005840" y="388620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プルダウンから見たい月を選択（例：1月）。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57200" y="448056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457200" y="44805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1005840" y="443484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集計結果を確認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005840" y="475488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児童ごとに利用枠・来館数・残数・利用率が表示。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181344" y="1426464"/>
            <a:ext cx="5650992" cy="24505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8" name="Google Shape;218;p10" descr="/sessions/vibrant-eloquent-babbage/mnt/outputs/images_opt/02_monthly_summary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7920" y="1463040"/>
            <a:ext cx="557784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0"/>
          <p:cNvSpPr/>
          <p:nvPr/>
        </p:nvSpPr>
        <p:spPr>
          <a:xfrm>
            <a:off x="6181344" y="3986784"/>
            <a:ext cx="2816352" cy="21762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0" name="Google Shape;220;p10" descr="/sessions/vibrant-eloquent-babbage/mnt/outputs/images_opt/02_monthly_yea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7920" y="4023360"/>
            <a:ext cx="274320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/>
          <p:nvPr/>
        </p:nvSpPr>
        <p:spPr>
          <a:xfrm>
            <a:off x="9015984" y="3986784"/>
            <a:ext cx="2816352" cy="21762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2" name="Google Shape;222;p10" descr="/sessions/vibrant-eloquent-babbage/mnt/outputs/images_opt/02_monthly_month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52560" y="4023360"/>
            <a:ext cx="274320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0"/>
          <p:cNvSpPr/>
          <p:nvPr/>
        </p:nvSpPr>
        <p:spPr>
          <a:xfrm>
            <a:off x="457200" y="5760720"/>
            <a:ext cx="5577840" cy="685800"/>
          </a:xfrm>
          <a:prstGeom prst="rect">
            <a:avLst/>
          </a:prstGeom>
          <a:solidFill>
            <a:srgbClr val="FDECEA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457200" y="5760720"/>
            <a:ext cx="109728" cy="685800"/>
          </a:xfrm>
          <a:prstGeom prst="rect">
            <a:avLst/>
          </a:prstGeom>
          <a:solidFill>
            <a:srgbClr val="D9534F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685800" y="5806440"/>
            <a:ext cx="5303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POINT  </a:t>
            </a:r>
            <a:r>
              <a:rPr lang="en-US" sz="11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「すべて」のままだと数字が集計されません。必ず年と月を指定してください。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月別集計を見る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表の見方とトラブル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表の見方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9" name="Google Shape;239;p11"/>
          <p:cNvGraphicFramePr/>
          <p:nvPr/>
        </p:nvGraphicFramePr>
        <p:xfrm>
          <a:off x="457200" y="1371600"/>
          <a:ext cx="5486400" cy="2432325"/>
        </p:xfrm>
        <a:graphic>
          <a:graphicData uri="http://schemas.openxmlformats.org/drawingml/2006/table">
            <a:tbl>
              <a:tblPr>
                <a:noFill/>
                <a:tableStyleId>{72552EF9-BA63-41EA-8549-83D43F13FCEF}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列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5F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意味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5F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No.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児童番号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児童名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児童の名前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利用枠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その月に使える上限回数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来館数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実際に来館した回数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残数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利用枠 − 来館数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利用率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利用枠に対する来館数の割合（%）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0" name="Google Shape;240;p11"/>
          <p:cNvSpPr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よくあるトラブル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1" name="Google Shape;241;p11"/>
          <p:cNvGraphicFramePr/>
          <p:nvPr/>
        </p:nvGraphicFramePr>
        <p:xfrm>
          <a:off x="6400800" y="1371600"/>
          <a:ext cx="5303525" cy="2011700"/>
        </p:xfrm>
        <a:graphic>
          <a:graphicData uri="http://schemas.openxmlformats.org/drawingml/2006/table">
            <a:tbl>
              <a:tblPr>
                <a:noFill/>
                <a:tableStyleId>{72552EF9-BA63-41EA-8549-83D43F13FCEF}</a:tableStyleId>
              </a:tblPr>
              <a:tblGrid>
                <a:gridCol w="210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症状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53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原因と対処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5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すべての数字が0になる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A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B1/B2が「すべて」のまま。年月を指定してください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児童が表示されない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児童マスタに未登録の可能性（10章を参照）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利用率が100%を超える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A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利用枠を超えて来館。管理者に相談を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2" name="Google Shape;242;p11"/>
          <p:cNvSpPr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solidFill>
            <a:srgbClr val="EEF3F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57200" y="5303520"/>
            <a:ext cx="109728" cy="10972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685800" y="53492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大事な注意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685800" y="56692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集計表の数字は自動計算されます。直接書き換えないでください。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B1（対象年）とB2（対象月）のプルダウンのみ操作可能です。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52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0"/>
              <a:buFont typeface="Arial"/>
              <a:buNone/>
            </a:pPr>
            <a:r>
              <a:rPr lang="en-US" sz="240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5486400" y="2743200"/>
            <a:ext cx="109728" cy="1828800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5760720" y="2468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CHAPTER 03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5760720" y="28346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確定来館記録を見る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5760720" y="397764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対象年月の全来館記録（実データ + 振り分け予測）を一覧で確認します。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Yorimado 来館記録管理マニュアル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確定来館記録を見る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457200" y="868680"/>
            <a:ext cx="1975104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594360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いつ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毎月 実績確認時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2569464" y="868680"/>
            <a:ext cx="1353312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2706624" y="868680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時間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2〜3分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4059936" y="868680"/>
            <a:ext cx="1975104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4197096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担当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管理担当スタッフ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1005840" y="18288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「確定来館記録」タブをクリック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1005840" y="214884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下部タブから選ぶ。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457200" y="274320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457200" y="27432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1005840" y="269748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対象年を選ぶ（B1）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1005840" y="301752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プルダウンから年を選択。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457200" y="361188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457200" y="36118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1005840" y="35661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対象月を選ぶ（B2）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1005840" y="388620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プルダウンから月を選択。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457200" y="448056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457200" y="44805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1005840" y="443484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日付順に全記録を確認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1005840" y="475488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利用日・スタッフ・入退所日時・体温・食事・入浴・入眠時刻・朝4時チェック・起床時刻・便・服薬など。フォーム1行（入所〜退所）は利用日ごとに1行ずつ展開して書込まれます（例:3/1入所→3/3退所＝3行）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6181344" y="1426464"/>
            <a:ext cx="5650992" cy="24505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3" name="Google Shape;293;p13" descr="/sessions/vibrant-eloquent-babbage/mnt/outputs/images_opt/03_confirmed_visit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7920" y="1463040"/>
            <a:ext cx="557784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3"/>
          <p:cNvSpPr/>
          <p:nvPr/>
        </p:nvSpPr>
        <p:spPr>
          <a:xfrm>
            <a:off x="6181344" y="3986784"/>
            <a:ext cx="2816352" cy="21762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5" name="Google Shape;295;p13" descr="/sessions/vibrant-eloquent-babbage/mnt/outputs/images_opt/03_confirmed_yea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7920" y="4023360"/>
            <a:ext cx="274320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3"/>
          <p:cNvSpPr/>
          <p:nvPr/>
        </p:nvSpPr>
        <p:spPr>
          <a:xfrm>
            <a:off x="9015984" y="3986784"/>
            <a:ext cx="2816352" cy="21762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7" name="Google Shape;297;p13" descr="/sessions/vibrant-eloquent-babbage/mnt/outputs/images_opt/03_confirmed_month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52560" y="4023360"/>
            <a:ext cx="274320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3"/>
          <p:cNvSpPr/>
          <p:nvPr/>
        </p:nvSpPr>
        <p:spPr>
          <a:xfrm>
            <a:off x="457200" y="5760720"/>
            <a:ext cx="5577840" cy="685800"/>
          </a:xfrm>
          <a:prstGeom prst="rect">
            <a:avLst/>
          </a:prstGeom>
          <a:solidFill>
            <a:srgbClr val="FDECEA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457200" y="5760720"/>
            <a:ext cx="109728" cy="685800"/>
          </a:xfrm>
          <a:prstGeom prst="rect">
            <a:avLst/>
          </a:prstGeom>
          <a:solidFill>
            <a:srgbClr val="D9534F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685800" y="5806440"/>
            <a:ext cx="5303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重要  </a:t>
            </a:r>
            <a:r>
              <a:rPr lang="en-US" sz="11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「データ区分」列は絶対に書き換えないでください。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確定来館記録を見る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実データと振り分けの違い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「実データ」と「振り分け」の違い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457200" y="1554480"/>
            <a:ext cx="5577840" cy="228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457200" y="1554480"/>
            <a:ext cx="91440" cy="2286000"/>
          </a:xfrm>
          <a:prstGeom prst="rect">
            <a:avLst/>
          </a:prstGeom>
          <a:solidFill>
            <a:srgbClr val="5FA579"/>
          </a:solidFill>
          <a:ln w="12700" cap="flat" cmpd="sng">
            <a:solidFill>
              <a:srgbClr val="5FA5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685800" y="16916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実データ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685800" y="2057400"/>
            <a:ext cx="53035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スタッフがフォームで送信した、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実際に起きたことの記録。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最も信頼できる記録です。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6126480" y="1554480"/>
            <a:ext cx="5577840" cy="228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6126480" y="1554480"/>
            <a:ext cx="91440" cy="2286000"/>
          </a:xfrm>
          <a:prstGeom prst="rect">
            <a:avLst/>
          </a:prstGeom>
          <a:solidFill>
            <a:srgbClr val="77A5B2"/>
          </a:solidFill>
          <a:ln w="12700" cap="flat" cmpd="sng">
            <a:solidFill>
              <a:srgbClr val="77A5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6355080" y="16916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振り分け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6355080" y="2057400"/>
            <a:ext cx="53035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月間利用枠の残数を、児童マスタの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「来館曜日／非来館曜日／重度支援区分／年間利用枠」と設定シートの「営業日」を考慮して自動振り分けしたシステム予測。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重度支援区分の高い児童から優先して埋め、月間枠±1のランダム幅と年間枠の平日按分上限の小さい方を上限とします。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457200" y="4023360"/>
            <a:ext cx="11247120" cy="1005840"/>
          </a:xfrm>
          <a:prstGeom prst="rect">
            <a:avLst/>
          </a:prstGeom>
          <a:solidFill>
            <a:srgbClr val="EEF3F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685800" y="41605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自動置き換え：</a:t>
            </a: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実際に来館してフォームが送信されると、同じ日の「振り分け」は自動で「実データ」に置き換わります。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よくあるトラブル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5" name="Google Shape;325;p14"/>
          <p:cNvGraphicFramePr/>
          <p:nvPr/>
        </p:nvGraphicFramePr>
        <p:xfrm>
          <a:off x="457200" y="5577840"/>
          <a:ext cx="11247125" cy="1170400"/>
        </p:xfrm>
        <a:graphic>
          <a:graphicData uri="http://schemas.openxmlformats.org/drawingml/2006/table">
            <a:tbl>
              <a:tblPr>
                <a:noFill/>
                <a:tableStyleId>{72552EF9-BA63-41EA-8549-83D43F13FCEF}</a:tableStyleId>
              </a:tblPr>
              <a:tblGrid>
                <a:gridCol w="347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症状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53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原因と対処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5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記録が出てこない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A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B1/B2が「すべて」になっていないか確認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振り分けが残ったまま更新されない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月次処理が未実行。管理者に「確定来館記録を手動更新」を依頼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複数日宿泊なのに1日しかカウントされない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A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入所日時・退所予定日時が同日になっている可能性。Webビューから修正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52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"/>
          <p:cNvSpPr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0"/>
              <a:buFont typeface="Arial"/>
              <a:buNone/>
            </a:pPr>
            <a:r>
              <a:rPr lang="en-US" sz="240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5486400" y="2743200"/>
            <a:ext cx="109728" cy="1828800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5"/>
          <p:cNvSpPr/>
          <p:nvPr/>
        </p:nvSpPr>
        <p:spPr>
          <a:xfrm>
            <a:off x="5760720" y="2468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CHAPTER 04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5760720" y="28346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来館カレンダーを見る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5760720" y="397764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カレンダー形式で「どの日に誰が来たか」を一目で確認します。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Yorimado 来館記録管理マニュアル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6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6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来館カレンダーを見る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手順とマークの見方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457200" y="868680"/>
            <a:ext cx="1975104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594360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いつ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毎月 全体把握時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2569464" y="868680"/>
            <a:ext cx="1353312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2706624" y="868680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時間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1〜2分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4059936" y="868680"/>
            <a:ext cx="1975104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4197096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担当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管理担当スタッフ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1005840" y="19202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「来館カレンダー」タブをクリック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457200" y="251460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6"/>
          <p:cNvSpPr/>
          <p:nvPr/>
        </p:nvSpPr>
        <p:spPr>
          <a:xfrm>
            <a:off x="457200" y="25146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1005840" y="25603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対象年を選ぶ（B1）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457200" y="315468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6"/>
          <p:cNvSpPr/>
          <p:nvPr/>
        </p:nvSpPr>
        <p:spPr>
          <a:xfrm>
            <a:off x="457200" y="31546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1005840" y="32004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対象月を選ぶ（B2）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457200" y="379476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6"/>
          <p:cNvSpPr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1005840" y="38404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縦=日付、横=児童名で表示される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457200" y="45262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マークの意味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457200" y="4937760"/>
            <a:ext cx="457200" cy="320040"/>
          </a:xfrm>
          <a:prstGeom prst="rect">
            <a:avLst/>
          </a:prstGeom>
          <a:solidFill>
            <a:srgbClr val="5FA579"/>
          </a:solidFill>
          <a:ln w="12700" cap="flat" cmpd="sng">
            <a:solidFill>
              <a:srgbClr val="5FA5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6"/>
          <p:cNvSpPr/>
          <p:nvPr/>
        </p:nvSpPr>
        <p:spPr>
          <a:xfrm>
            <a:off x="457200" y="49377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1005840" y="49377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来館あり（実データ）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3931920" y="49377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緑色のセル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457200" y="5321808"/>
            <a:ext cx="457200" cy="320040"/>
          </a:xfrm>
          <a:prstGeom prst="rect">
            <a:avLst/>
          </a:prstGeom>
          <a:solidFill>
            <a:srgbClr val="77A5B2"/>
          </a:solidFill>
          <a:ln w="12700" cap="flat" cmpd="sng">
            <a:solidFill>
              <a:srgbClr val="77A5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457200" y="5321808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1005840" y="532180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来館予定（振り分け）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3931920" y="532180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薄緑のセル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457200" y="5705856"/>
            <a:ext cx="457200" cy="320040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457200" y="5705856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1005840" y="5705856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来館なし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3931920" y="5705856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空欄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457200" y="6089904"/>
            <a:ext cx="457200" cy="320040"/>
          </a:xfrm>
          <a:prstGeom prst="rect">
            <a:avLst/>
          </a:prstGeom>
          <a:solidFill>
            <a:srgbClr val="D9534F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457200" y="6089904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1005840" y="6089904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（廃止）現仕様では使用しません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3931920" y="6089904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6181344" y="1426464"/>
            <a:ext cx="5650992" cy="24505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6" name="Google Shape;386;p16" descr="/sessions/vibrant-eloquent-babbage/mnt/outputs/images_opt/04_visit_calenda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7920" y="1463040"/>
            <a:ext cx="557784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6"/>
          <p:cNvSpPr/>
          <p:nvPr/>
        </p:nvSpPr>
        <p:spPr>
          <a:xfrm>
            <a:off x="6181344" y="3986784"/>
            <a:ext cx="2816352" cy="21762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8" name="Google Shape;388;p16" descr="/sessions/vibrant-eloquent-babbage/mnt/outputs/images_opt/04_calendar_yea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7920" y="4023360"/>
            <a:ext cx="274320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6"/>
          <p:cNvSpPr/>
          <p:nvPr/>
        </p:nvSpPr>
        <p:spPr>
          <a:xfrm>
            <a:off x="9015984" y="3986784"/>
            <a:ext cx="2816352" cy="21762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0" name="Google Shape;390;p16" descr="/sessions/vibrant-eloquent-babbage/mnt/outputs/images_opt/04_calendar_month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52560" y="4023360"/>
            <a:ext cx="2743200" cy="210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52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7"/>
          <p:cNvSpPr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0"/>
              <a:buFont typeface="Arial"/>
              <a:buNone/>
            </a:pPr>
            <a:r>
              <a:rPr lang="en-US" sz="240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2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5486400" y="2743200"/>
            <a:ext cx="109728" cy="1828800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7"/>
          <p:cNvSpPr/>
          <p:nvPr/>
        </p:nvSpPr>
        <p:spPr>
          <a:xfrm>
            <a:off x="5760720" y="2468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CHAPTER 05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5760720" y="28346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児童別ビューを見る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5760720" y="397764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特定の児童1人の来館履歴と基本情報を絞り込んで表示します。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Yorimado 来館記録管理マニュアル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8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8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児童別ビューを見る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8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457200" y="868680"/>
            <a:ext cx="2596896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8"/>
          <p:cNvSpPr/>
          <p:nvPr/>
        </p:nvSpPr>
        <p:spPr>
          <a:xfrm>
            <a:off x="594360" y="868680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いつ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保護者報告 / 個別面談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3191256" y="868680"/>
            <a:ext cx="1353312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8"/>
          <p:cNvSpPr/>
          <p:nvPr/>
        </p:nvSpPr>
        <p:spPr>
          <a:xfrm>
            <a:off x="3328416" y="868680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時間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2〜3分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4681728" y="868680"/>
            <a:ext cx="1975104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8"/>
          <p:cNvSpPr/>
          <p:nvPr/>
        </p:nvSpPr>
        <p:spPr>
          <a:xfrm>
            <a:off x="4818888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担当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管理担当スタッフ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1005840" y="18288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「児童別ビュー」タブをクリック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1005840" y="21488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8"/>
          <p:cNvSpPr/>
          <p:nvPr/>
        </p:nvSpPr>
        <p:spPr>
          <a:xfrm>
            <a:off x="457200" y="2651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1005840" y="260604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児童名を選ぶ（B1）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1005840" y="29260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プルダウンにない場合は児童マスタ未登録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457200" y="342900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8"/>
          <p:cNvSpPr/>
          <p:nvPr/>
        </p:nvSpPr>
        <p:spPr>
          <a:xfrm>
            <a:off x="457200" y="34290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1005840" y="338328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対象年を選ぶ（B2）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1005840" y="370332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457200" y="420624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8"/>
          <p:cNvSpPr/>
          <p:nvPr/>
        </p:nvSpPr>
        <p:spPr>
          <a:xfrm>
            <a:off x="457200" y="42062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1005840" y="416052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対象月を選ぶ（B3）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1005840" y="448056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457200" y="498348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8"/>
          <p:cNvSpPr/>
          <p:nvPr/>
        </p:nvSpPr>
        <p:spPr>
          <a:xfrm>
            <a:off x="457200" y="49834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⑤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1005840" y="49377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基本情報と来館記録を確認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1005840" y="52578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上部：基本情報／下部：来館記録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6181344" y="1426464"/>
            <a:ext cx="5650992" cy="22677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2" name="Google Shape;442;p18" descr="/sessions/vibrant-eloquent-babbage/mnt/outputs/images_opt/05_child_view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7920" y="1463040"/>
            <a:ext cx="55778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8"/>
          <p:cNvSpPr/>
          <p:nvPr/>
        </p:nvSpPr>
        <p:spPr>
          <a:xfrm>
            <a:off x="6181344" y="3803904"/>
            <a:ext cx="2724912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4" name="Google Shape;444;p18" descr="/sessions/vibrant-eloquent-babbage/mnt/outputs/images_opt/05_child_select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7920" y="3840480"/>
            <a:ext cx="265176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8"/>
          <p:cNvSpPr/>
          <p:nvPr/>
        </p:nvSpPr>
        <p:spPr>
          <a:xfrm>
            <a:off x="8970264" y="3803904"/>
            <a:ext cx="2724912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6" name="Google Shape;446;p18" descr="/sessions/vibrant-eloquent-babbage/mnt/outputs/images_opt/05_child_year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06840" y="3840480"/>
            <a:ext cx="265176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8"/>
          <p:cNvSpPr/>
          <p:nvPr/>
        </p:nvSpPr>
        <p:spPr>
          <a:xfrm>
            <a:off x="6181344" y="5129784"/>
            <a:ext cx="2724912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8" name="Google Shape;448;p18" descr="/sessions/vibrant-eloquent-babbage/mnt/outputs/images_opt/05_child_month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7920" y="5166360"/>
            <a:ext cx="265176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8"/>
          <p:cNvSpPr/>
          <p:nvPr/>
        </p:nvSpPr>
        <p:spPr>
          <a:xfrm>
            <a:off x="9006840" y="5166360"/>
            <a:ext cx="2697480" cy="1188720"/>
          </a:xfrm>
          <a:prstGeom prst="rect">
            <a:avLst/>
          </a:prstGeom>
          <a:solidFill>
            <a:srgbClr val="FFF3E7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8"/>
          <p:cNvSpPr/>
          <p:nvPr/>
        </p:nvSpPr>
        <p:spPr>
          <a:xfrm>
            <a:off x="9144000" y="52120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印刷のポイント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9144000" y="5486400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A4横向きで1枚に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収まるよう設計。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ファイル→印刷→A4横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52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9"/>
          <p:cNvSpPr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0"/>
              <a:buFont typeface="Arial"/>
              <a:buNone/>
            </a:pPr>
            <a:r>
              <a:rPr lang="en-US" sz="240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2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5486400" y="2743200"/>
            <a:ext cx="109728" cy="1828800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9"/>
          <p:cNvSpPr/>
          <p:nvPr/>
        </p:nvSpPr>
        <p:spPr>
          <a:xfrm>
            <a:off x="5760720" y="2468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CHAPTER 10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9"/>
          <p:cNvSpPr/>
          <p:nvPr/>
        </p:nvSpPr>
        <p:spPr>
          <a:xfrm>
            <a:off x="5760720" y="28346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児童を追加する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5760720" y="397764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新しく利用する児童の情報を登録し、フォームと集計へ反映します。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Yorimado 来館記録管理マニュアル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0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0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児童を追加する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0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457200" y="868680"/>
            <a:ext cx="2441448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0"/>
          <p:cNvSpPr/>
          <p:nvPr/>
        </p:nvSpPr>
        <p:spPr>
          <a:xfrm>
            <a:off x="594360" y="868680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いつ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新しい児童の利用決定時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0"/>
          <p:cNvSpPr/>
          <p:nvPr/>
        </p:nvSpPr>
        <p:spPr>
          <a:xfrm>
            <a:off x="3035808" y="868680"/>
            <a:ext cx="1353312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0"/>
          <p:cNvSpPr/>
          <p:nvPr/>
        </p:nvSpPr>
        <p:spPr>
          <a:xfrm>
            <a:off x="3172968" y="868680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時間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3〜5分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0"/>
          <p:cNvSpPr/>
          <p:nvPr/>
        </p:nvSpPr>
        <p:spPr>
          <a:xfrm>
            <a:off x="4526280" y="868680"/>
            <a:ext cx="1975104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20"/>
          <p:cNvSpPr/>
          <p:nvPr/>
        </p:nvSpPr>
        <p:spPr>
          <a:xfrm>
            <a:off x="4663440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担当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管理担当スタッフ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0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0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77A5B2"/>
          </a:solidFill>
          <a:ln w="12700" cap="flat" cmpd="sng">
            <a:solidFill>
              <a:srgbClr val="77A5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0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0"/>
          <p:cNvSpPr/>
          <p:nvPr/>
        </p:nvSpPr>
        <p:spPr>
          <a:xfrm>
            <a:off x="1005840" y="184708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「児童マスタ」タブを開く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1005840" y="216712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下部タブから選ぶ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0"/>
          <p:cNvSpPr/>
          <p:nvPr/>
        </p:nvSpPr>
        <p:spPr>
          <a:xfrm>
            <a:off x="457200" y="2560320"/>
            <a:ext cx="411480" cy="411480"/>
          </a:xfrm>
          <a:prstGeom prst="ellipse">
            <a:avLst/>
          </a:prstGeom>
          <a:solidFill>
            <a:srgbClr val="77A5B2"/>
          </a:solidFill>
          <a:ln w="12700" cap="flat" cmpd="sng">
            <a:solidFill>
              <a:srgbClr val="77A5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0"/>
          <p:cNvSpPr/>
          <p:nvPr/>
        </p:nvSpPr>
        <p:spPr>
          <a:xfrm>
            <a:off x="457200" y="25603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1005840" y="253288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空いている行に情報を入力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0"/>
          <p:cNvSpPr/>
          <p:nvPr/>
        </p:nvSpPr>
        <p:spPr>
          <a:xfrm>
            <a:off x="1005840" y="285292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下にスクロールして入力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457200" y="3246120"/>
            <a:ext cx="411480" cy="411480"/>
          </a:xfrm>
          <a:prstGeom prst="ellipse">
            <a:avLst/>
          </a:prstGeom>
          <a:solidFill>
            <a:srgbClr val="77A5B2"/>
          </a:solidFill>
          <a:ln w="12700" cap="flat" cmpd="sng">
            <a:solidFill>
              <a:srgbClr val="77A5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0"/>
          <p:cNvSpPr/>
          <p:nvPr/>
        </p:nvSpPr>
        <p:spPr>
          <a:xfrm>
            <a:off x="457200" y="32461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1005840" y="321868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ドロップダウンを更新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0"/>
          <p:cNvSpPr/>
          <p:nvPr/>
        </p:nvSpPr>
        <p:spPr>
          <a:xfrm>
            <a:off x="1005840" y="353872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メニュー → 来館管理 → ドロップダウンを更新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0"/>
          <p:cNvSpPr/>
          <p:nvPr/>
        </p:nvSpPr>
        <p:spPr>
          <a:xfrm>
            <a:off x="457200" y="3931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入力項目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5" name="Google Shape;495;p20"/>
          <p:cNvGraphicFramePr/>
          <p:nvPr/>
        </p:nvGraphicFramePr>
        <p:xfrm>
          <a:off x="457200" y="4251960"/>
          <a:ext cx="5577850" cy="2188425"/>
        </p:xfrm>
        <a:graphic>
          <a:graphicData uri="http://schemas.openxmlformats.org/drawingml/2006/table">
            <a:tbl>
              <a:tblPr>
                <a:noFill/>
                <a:tableStyleId>{72552EF9-BA63-41EA-8549-83D43F13FCEF}</a:tableStyleId>
              </a:tblPr>
              <a:tblGrid>
                <a:gridCol w="192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児童名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8A95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7A8A9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例：山田太郎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保護者名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8A95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7A8A9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山田花子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保護者メールアドレス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8A95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7A8A9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報告メール送信先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担当スタッフ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8A95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7A8A9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プルダウン（スタッフマスタから）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医療型の有無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8A95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7A8A9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あり / なし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重度支援 / 重度支援区分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8A95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7A8A9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あり/なし ＋ 区分1〜区分5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年間利用枠 / 月間利用枠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8A95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7A8A9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数値（年=180、月=20など。空欄=上限なし）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来館曜日 / 非来館曜日 / 入所状況 / 退所状況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8A95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7A8A9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月,水,金 形式 / 稼働・休止・退所 / 別施設移動・別施設移動無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96" name="Google Shape;496;p20"/>
          <p:cNvSpPr/>
          <p:nvPr/>
        </p:nvSpPr>
        <p:spPr>
          <a:xfrm>
            <a:off x="6181344" y="1426464"/>
            <a:ext cx="5650992" cy="38221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7" name="Google Shape;497;p20" descr="/sessions/vibrant-eloquent-babbage/mnt/outputs/images_opt/10_children_mas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7920" y="1463040"/>
            <a:ext cx="557784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0"/>
          <p:cNvSpPr/>
          <p:nvPr/>
        </p:nvSpPr>
        <p:spPr>
          <a:xfrm>
            <a:off x="6217920" y="5349240"/>
            <a:ext cx="5577840" cy="1097280"/>
          </a:xfrm>
          <a:prstGeom prst="rect">
            <a:avLst/>
          </a:prstGeom>
          <a:solidFill>
            <a:srgbClr val="FDECEA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0"/>
          <p:cNvSpPr/>
          <p:nvPr/>
        </p:nvSpPr>
        <p:spPr>
          <a:xfrm>
            <a:off x="6217920" y="5349240"/>
            <a:ext cx="109728" cy="1097280"/>
          </a:xfrm>
          <a:prstGeom prst="rect">
            <a:avLst/>
          </a:prstGeom>
          <a:solidFill>
            <a:srgbClr val="D9534F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0"/>
          <p:cNvSpPr/>
          <p:nvPr/>
        </p:nvSpPr>
        <p:spPr>
          <a:xfrm>
            <a:off x="6400800" y="539496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大事な注意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6400800" y="5669280"/>
            <a:ext cx="53035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既存の児童の行を並び替え・削除しない。「来館曜日」はカンマ区切り（例:月,水,金）で入力してください。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「入所状況」=稼働/休止/退所、「退所状況」=別施設移動/別施設移動無 を正しく選んでください。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52"/>
        </a:solid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1"/>
          <p:cNvSpPr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0"/>
              <a:buFont typeface="Arial"/>
              <a:buNone/>
            </a:pPr>
            <a:r>
              <a:rPr lang="en-US" sz="240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2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1"/>
          <p:cNvSpPr/>
          <p:nvPr/>
        </p:nvSpPr>
        <p:spPr>
          <a:xfrm>
            <a:off x="5486400" y="2743200"/>
            <a:ext cx="109728" cy="1828800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1"/>
          <p:cNvSpPr/>
          <p:nvPr/>
        </p:nvSpPr>
        <p:spPr>
          <a:xfrm>
            <a:off x="5760720" y="2468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CHAPTER 11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1"/>
          <p:cNvSpPr/>
          <p:nvPr/>
        </p:nvSpPr>
        <p:spPr>
          <a:xfrm>
            <a:off x="5760720" y="28346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スタッフを追加する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1"/>
          <p:cNvSpPr/>
          <p:nvPr/>
        </p:nvSpPr>
        <p:spPr>
          <a:xfrm>
            <a:off x="5760720" y="397764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スタッフ情報の登録から、Webビュー用の個別リンク発行までを一気に行います。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Yorimado 来館記録管理マニュアル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スタッフを追加する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2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全体フロー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2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457200" y="868680"/>
            <a:ext cx="2596896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2"/>
          <p:cNvSpPr/>
          <p:nvPr/>
        </p:nvSpPr>
        <p:spPr>
          <a:xfrm>
            <a:off x="594360" y="868680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いつ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新スタッフ入社／稼働変更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2"/>
          <p:cNvSpPr/>
          <p:nvPr/>
        </p:nvSpPr>
        <p:spPr>
          <a:xfrm>
            <a:off x="3191256" y="868680"/>
            <a:ext cx="150876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2"/>
          <p:cNvSpPr/>
          <p:nvPr/>
        </p:nvSpPr>
        <p:spPr>
          <a:xfrm>
            <a:off x="3328416" y="868680"/>
            <a:ext cx="13258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時間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5〜10分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4837176" y="868680"/>
            <a:ext cx="1975104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2"/>
          <p:cNvSpPr/>
          <p:nvPr/>
        </p:nvSpPr>
        <p:spPr>
          <a:xfrm>
            <a:off x="4974336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担当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管理担当スタッフ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5ステップの流れ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548640" y="2194560"/>
            <a:ext cx="2148840" cy="2103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2"/>
          <p:cNvSpPr/>
          <p:nvPr/>
        </p:nvSpPr>
        <p:spPr>
          <a:xfrm>
            <a:off x="548640" y="2194560"/>
            <a:ext cx="2148840" cy="1828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2"/>
          <p:cNvSpPr/>
          <p:nvPr/>
        </p:nvSpPr>
        <p:spPr>
          <a:xfrm>
            <a:off x="1303020" y="2606040"/>
            <a:ext cx="640080" cy="6400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2"/>
          <p:cNvSpPr/>
          <p:nvPr/>
        </p:nvSpPr>
        <p:spPr>
          <a:xfrm>
            <a:off x="1303020" y="2606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640080" y="3429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スタッフマスタ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に情報入力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2"/>
          <p:cNvSpPr/>
          <p:nvPr/>
        </p:nvSpPr>
        <p:spPr>
          <a:xfrm>
            <a:off x="2697480" y="301752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2898648" y="2194560"/>
            <a:ext cx="2148840" cy="2103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2"/>
          <p:cNvSpPr/>
          <p:nvPr/>
        </p:nvSpPr>
        <p:spPr>
          <a:xfrm>
            <a:off x="2898648" y="2194560"/>
            <a:ext cx="2148840" cy="1828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2"/>
          <p:cNvSpPr/>
          <p:nvPr/>
        </p:nvSpPr>
        <p:spPr>
          <a:xfrm>
            <a:off x="3653028" y="2606040"/>
            <a:ext cx="640080" cy="6400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2"/>
          <p:cNvSpPr/>
          <p:nvPr/>
        </p:nvSpPr>
        <p:spPr>
          <a:xfrm>
            <a:off x="3653028" y="2606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2990088" y="3429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稼働曜日を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設定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2"/>
          <p:cNvSpPr/>
          <p:nvPr/>
        </p:nvSpPr>
        <p:spPr>
          <a:xfrm>
            <a:off x="5047488" y="301752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2"/>
          <p:cNvSpPr/>
          <p:nvPr/>
        </p:nvSpPr>
        <p:spPr>
          <a:xfrm>
            <a:off x="5248656" y="2194560"/>
            <a:ext cx="2148840" cy="2103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2"/>
          <p:cNvSpPr/>
          <p:nvPr/>
        </p:nvSpPr>
        <p:spPr>
          <a:xfrm>
            <a:off x="5248656" y="2194560"/>
            <a:ext cx="2148840" cy="182880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2"/>
          <p:cNvSpPr/>
          <p:nvPr/>
        </p:nvSpPr>
        <p:spPr>
          <a:xfrm>
            <a:off x="6003036" y="2606040"/>
            <a:ext cx="640080" cy="640080"/>
          </a:xfrm>
          <a:prstGeom prst="ellipse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2"/>
          <p:cNvSpPr/>
          <p:nvPr/>
        </p:nvSpPr>
        <p:spPr>
          <a:xfrm>
            <a:off x="6003036" y="2606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2"/>
          <p:cNvSpPr/>
          <p:nvPr/>
        </p:nvSpPr>
        <p:spPr>
          <a:xfrm>
            <a:off x="5340096" y="3429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メール追加＆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トークン発行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2"/>
          <p:cNvSpPr/>
          <p:nvPr/>
        </p:nvSpPr>
        <p:spPr>
          <a:xfrm>
            <a:off x="7397496" y="301752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2"/>
          <p:cNvSpPr/>
          <p:nvPr/>
        </p:nvSpPr>
        <p:spPr>
          <a:xfrm>
            <a:off x="7598664" y="2194560"/>
            <a:ext cx="2148840" cy="2103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2"/>
          <p:cNvSpPr/>
          <p:nvPr/>
        </p:nvSpPr>
        <p:spPr>
          <a:xfrm>
            <a:off x="7598664" y="2194560"/>
            <a:ext cx="2148840" cy="182880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22"/>
          <p:cNvSpPr/>
          <p:nvPr/>
        </p:nvSpPr>
        <p:spPr>
          <a:xfrm>
            <a:off x="8353044" y="2606040"/>
            <a:ext cx="640080" cy="640080"/>
          </a:xfrm>
          <a:prstGeom prst="ellipse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2"/>
          <p:cNvSpPr/>
          <p:nvPr/>
        </p:nvSpPr>
        <p:spPr>
          <a:xfrm>
            <a:off x="8353044" y="2606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2"/>
          <p:cNvSpPr/>
          <p:nvPr/>
        </p:nvSpPr>
        <p:spPr>
          <a:xfrm>
            <a:off x="7690104" y="3429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トークン貼り付け＆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チェックボックス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2"/>
          <p:cNvSpPr/>
          <p:nvPr/>
        </p:nvSpPr>
        <p:spPr>
          <a:xfrm>
            <a:off x="9747504" y="301752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2"/>
          <p:cNvSpPr/>
          <p:nvPr/>
        </p:nvSpPr>
        <p:spPr>
          <a:xfrm>
            <a:off x="9948672" y="2194560"/>
            <a:ext cx="2148840" cy="2103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2"/>
          <p:cNvSpPr/>
          <p:nvPr/>
        </p:nvSpPr>
        <p:spPr>
          <a:xfrm>
            <a:off x="9948672" y="2194560"/>
            <a:ext cx="2148840" cy="182880"/>
          </a:xfrm>
          <a:prstGeom prst="rect">
            <a:avLst/>
          </a:prstGeom>
          <a:solidFill>
            <a:srgbClr val="77A5B2"/>
          </a:solidFill>
          <a:ln w="12700" cap="flat" cmpd="sng">
            <a:solidFill>
              <a:srgbClr val="77A5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2"/>
          <p:cNvSpPr/>
          <p:nvPr/>
        </p:nvSpPr>
        <p:spPr>
          <a:xfrm>
            <a:off x="10703052" y="2606040"/>
            <a:ext cx="640080" cy="640080"/>
          </a:xfrm>
          <a:prstGeom prst="ellipse">
            <a:avLst/>
          </a:prstGeom>
          <a:solidFill>
            <a:srgbClr val="77A5B2"/>
          </a:solidFill>
          <a:ln w="12700" cap="flat" cmpd="sng">
            <a:solidFill>
              <a:srgbClr val="77A5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2"/>
          <p:cNvSpPr/>
          <p:nvPr/>
        </p:nvSpPr>
        <p:spPr>
          <a:xfrm>
            <a:off x="10703052" y="2606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⑤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2"/>
          <p:cNvSpPr/>
          <p:nvPr/>
        </p:nvSpPr>
        <p:spPr>
          <a:xfrm>
            <a:off x="10040112" y="3429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ドロップダウン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更新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2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FDECEA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2"/>
          <p:cNvSpPr/>
          <p:nvPr/>
        </p:nvSpPr>
        <p:spPr>
          <a:xfrm>
            <a:off x="457200" y="4754880"/>
            <a:ext cx="109728" cy="1645920"/>
          </a:xfrm>
          <a:prstGeom prst="rect">
            <a:avLst/>
          </a:prstGeom>
          <a:solidFill>
            <a:srgbClr val="D9534F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2"/>
          <p:cNvSpPr/>
          <p:nvPr/>
        </p:nvSpPr>
        <p:spPr>
          <a:xfrm>
            <a:off x="685800" y="4800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重要：トークンは必ず「値貼り付け」を！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2"/>
          <p:cNvSpPr/>
          <p:nvPr/>
        </p:nvSpPr>
        <p:spPr>
          <a:xfrm>
            <a:off x="685800" y="516636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トークンは数式で自動生成されます。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値として貼り付けることで、今後シートを再計算してもトークンが変わらなくなります。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これをしないと、スタッフのリンクが ある日突然使えなくなる ことがあります。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3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3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23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3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スタッフを追加する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3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 スタッフマスタ／② 稼働曜日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3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3"/>
          <p:cNvSpPr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① スタッフマスタに情報を入力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8" name="Google Shape;578;p23"/>
          <p:cNvGraphicFramePr/>
          <p:nvPr/>
        </p:nvGraphicFramePr>
        <p:xfrm>
          <a:off x="457200" y="1325880"/>
          <a:ext cx="5577850" cy="1463000"/>
        </p:xfrm>
        <a:graphic>
          <a:graphicData uri="http://schemas.openxmlformats.org/drawingml/2006/table">
            <a:tbl>
              <a:tblPr>
                <a:noFill/>
                <a:tableStyleId>{72552EF9-BA63-41EA-8549-83D43F13FCEF}</a:tableStyleId>
              </a:tblPr>
              <a:tblGrid>
                <a:gridCol w="146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列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5F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入力内容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5F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例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5F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スタッフ名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フルネーム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田中一郎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よみがな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ひらがな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たなかいちろう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区分1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プルダウン選択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正社員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区分2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プルダウン選択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保育士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79" name="Google Shape;579;p23"/>
          <p:cNvSpPr/>
          <p:nvPr/>
        </p:nvSpPr>
        <p:spPr>
          <a:xfrm>
            <a:off x="6181344" y="877824"/>
            <a:ext cx="5650992" cy="2633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0" name="Google Shape;580;p23" descr="/sessions/vibrant-eloquent-babbage/mnt/outputs/images_opt/11_staff_master_token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7920" y="914400"/>
            <a:ext cx="557784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23"/>
          <p:cNvSpPr/>
          <p:nvPr/>
        </p:nvSpPr>
        <p:spPr>
          <a:xfrm>
            <a:off x="457200" y="3749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② 稼働曜日を設定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3"/>
          <p:cNvSpPr/>
          <p:nvPr/>
        </p:nvSpPr>
        <p:spPr>
          <a:xfrm>
            <a:off x="457200" y="4114800"/>
            <a:ext cx="5577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同じ行の </a:t>
            </a:r>
            <a:r>
              <a:rPr lang="en-US" sz="11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曜日1〜曜日5</a:t>
            </a:r>
            <a:r>
              <a:rPr lang="en-US" sz="11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に、そのスタッフが働く曜日をプルダウンから選択。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83" name="Google Shape;583;p23"/>
          <p:cNvGraphicFramePr/>
          <p:nvPr/>
        </p:nvGraphicFramePr>
        <p:xfrm>
          <a:off x="457200" y="4663440"/>
          <a:ext cx="5577850" cy="1097300"/>
        </p:xfrm>
        <a:graphic>
          <a:graphicData uri="http://schemas.openxmlformats.org/drawingml/2006/table">
            <a:tbl>
              <a:tblPr>
                <a:noFill/>
                <a:tableStyleId>{72552EF9-BA63-41EA-8549-83D43F13FCEF}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スタッフ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A5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設定例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7A5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溝口照代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月曜日・金曜日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三國谷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水曜日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川田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月曜日・火曜日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84" name="Google Shape;584;p23"/>
          <p:cNvSpPr/>
          <p:nvPr/>
        </p:nvSpPr>
        <p:spPr>
          <a:xfrm>
            <a:off x="6181344" y="3712464"/>
            <a:ext cx="5650992" cy="27249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5" name="Google Shape;585;p23" descr="/sessions/vibrant-eloquent-babbage/mnt/outputs/images_opt/11b_staff_schedule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7920" y="3749040"/>
            <a:ext cx="5577840" cy="2651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4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24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24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4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スタッフを追加する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4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 許可ユーザーでメール＆トークン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24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4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③ 許可ユーザーシートでトークン発行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4"/>
          <p:cNvSpPr/>
          <p:nvPr/>
        </p:nvSpPr>
        <p:spPr>
          <a:xfrm>
            <a:off x="457200" y="1371600"/>
            <a:ext cx="5577840" cy="228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24"/>
          <p:cNvSpPr/>
          <p:nvPr/>
        </p:nvSpPr>
        <p:spPr>
          <a:xfrm>
            <a:off x="457200" y="1371600"/>
            <a:ext cx="731520" cy="320040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24"/>
          <p:cNvSpPr/>
          <p:nvPr/>
        </p:nvSpPr>
        <p:spPr>
          <a:xfrm>
            <a:off x="457200" y="137160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③-1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4"/>
          <p:cNvSpPr/>
          <p:nvPr/>
        </p:nvSpPr>
        <p:spPr>
          <a:xfrm>
            <a:off x="1280160" y="138988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「許可ユーザー」タブをクリック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3" name="Google Shape;603;p24" descr="/sessions/vibrant-eloquent-babbage/mnt/outputs/images_opt/11_staff_users_ta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783080"/>
            <a:ext cx="539496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4"/>
          <p:cNvSpPr/>
          <p:nvPr/>
        </p:nvSpPr>
        <p:spPr>
          <a:xfrm>
            <a:off x="6126480" y="1371600"/>
            <a:ext cx="5577840" cy="228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24"/>
          <p:cNvSpPr/>
          <p:nvPr/>
        </p:nvSpPr>
        <p:spPr>
          <a:xfrm>
            <a:off x="6126480" y="1371600"/>
            <a:ext cx="731520" cy="320040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24"/>
          <p:cNvSpPr/>
          <p:nvPr/>
        </p:nvSpPr>
        <p:spPr>
          <a:xfrm>
            <a:off x="6126480" y="137160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③-2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4"/>
          <p:cNvSpPr/>
          <p:nvPr/>
        </p:nvSpPr>
        <p:spPr>
          <a:xfrm>
            <a:off x="6949440" y="138988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メール列にアドレスを入力 → トークン自動生成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8" name="Google Shape;608;p24" descr="/sessions/vibrant-eloquent-babbage/mnt/outputs/images_opt/11_staff_email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7920" y="1783080"/>
            <a:ext cx="539496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24"/>
          <p:cNvSpPr/>
          <p:nvPr/>
        </p:nvSpPr>
        <p:spPr>
          <a:xfrm>
            <a:off x="457200" y="3840480"/>
            <a:ext cx="5577840" cy="228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24"/>
          <p:cNvSpPr/>
          <p:nvPr/>
        </p:nvSpPr>
        <p:spPr>
          <a:xfrm>
            <a:off x="457200" y="3840480"/>
            <a:ext cx="731520" cy="320040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24"/>
          <p:cNvSpPr/>
          <p:nvPr/>
        </p:nvSpPr>
        <p:spPr>
          <a:xfrm>
            <a:off x="457200" y="38404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③-3 / ③-4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1280160" y="385876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トークンをコピー → 値として貼り付け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3" name="Google Shape;613;p24" descr="/sessions/vibrant-eloquent-babbage/mnt/outputs/images_opt/11_staff_token_copy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4251960"/>
            <a:ext cx="539496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24"/>
          <p:cNvSpPr/>
          <p:nvPr/>
        </p:nvSpPr>
        <p:spPr>
          <a:xfrm>
            <a:off x="6126480" y="3840480"/>
            <a:ext cx="5577840" cy="228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24"/>
          <p:cNvSpPr/>
          <p:nvPr/>
        </p:nvSpPr>
        <p:spPr>
          <a:xfrm>
            <a:off x="6126480" y="3840480"/>
            <a:ext cx="731520" cy="320040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4"/>
          <p:cNvSpPr/>
          <p:nvPr/>
        </p:nvSpPr>
        <p:spPr>
          <a:xfrm>
            <a:off x="6126480" y="38404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③-5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4"/>
          <p:cNvSpPr/>
          <p:nvPr/>
        </p:nvSpPr>
        <p:spPr>
          <a:xfrm>
            <a:off x="6949440" y="385876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E列（有効）にチェック 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8" name="Google Shape;618;p24" descr="/sessions/vibrant-eloquent-babbage/mnt/outputs/images_opt/11_staff_enable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7920" y="4251960"/>
            <a:ext cx="539496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24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solidFill>
            <a:srgbClr val="77A5B2">
              <a:alpha val="20000"/>
            </a:srgbClr>
          </a:solidFill>
          <a:ln w="12700" cap="flat" cmpd="sng">
            <a:solidFill>
              <a:srgbClr val="77A5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4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 ④ </a:t>
            </a:r>
            <a:r>
              <a:rPr lang="en-US" sz="11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許可ユーザーのURL列のリンクをスタッフに共有    </a:t>
            </a:r>
            <a:r>
              <a:rPr lang="en-US" sz="11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⑤ </a:t>
            </a:r>
            <a:r>
              <a:rPr lang="en-US" sz="11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メニュー → 来館管理 → ドロップダウンを更新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5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25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5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5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スタッフを追加する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5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③-4 トークン値貼り付けの手順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5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5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トークン貼り付け：右クリック → 特殊貼り付け → 値のみ貼り付け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5"/>
          <p:cNvSpPr/>
          <p:nvPr/>
        </p:nvSpPr>
        <p:spPr>
          <a:xfrm>
            <a:off x="420624" y="1380744"/>
            <a:ext cx="5650992" cy="39136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5" name="Google Shape;635;p25" descr="/sessions/vibrant-eloquent-babbage/mnt/outputs/images_opt/11_staff_token_past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417320"/>
            <a:ext cx="557784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25"/>
          <p:cNvSpPr/>
          <p:nvPr/>
        </p:nvSpPr>
        <p:spPr>
          <a:xfrm>
            <a:off x="6089904" y="1380744"/>
            <a:ext cx="5650992" cy="39136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7" name="Google Shape;637;p25" descr="/sessions/vibrant-eloquent-babbage/mnt/outputs/images_opt/11_staff_link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26480" y="1417320"/>
            <a:ext cx="557784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5"/>
          <p:cNvSpPr/>
          <p:nvPr/>
        </p:nvSpPr>
        <p:spPr>
          <a:xfrm>
            <a:off x="457200" y="5394960"/>
            <a:ext cx="11247120" cy="1051560"/>
          </a:xfrm>
          <a:prstGeom prst="rect">
            <a:avLst/>
          </a:prstGeom>
          <a:solidFill>
            <a:srgbClr val="FDECEA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5"/>
          <p:cNvSpPr/>
          <p:nvPr/>
        </p:nvSpPr>
        <p:spPr>
          <a:xfrm>
            <a:off x="457200" y="5394960"/>
            <a:ext cx="109728" cy="1051560"/>
          </a:xfrm>
          <a:prstGeom prst="rect">
            <a:avLst/>
          </a:prstGeom>
          <a:solidFill>
            <a:srgbClr val="D9534F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5"/>
          <p:cNvSpPr/>
          <p:nvPr/>
        </p:nvSpPr>
        <p:spPr>
          <a:xfrm>
            <a:off x="685800" y="5440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なぜ値貼り付けが必要？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5"/>
          <p:cNvSpPr/>
          <p:nvPr/>
        </p:nvSpPr>
        <p:spPr>
          <a:xfrm>
            <a:off x="685800" y="576072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トークンは数式で自動生成されるため、再計算でトークンが変わると、スタッフのリンクが突然使えなくなります。値貼り付けでトークンを固定してください。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52"/>
        </a:solidFill>
        <a:effectLst/>
      </p:bgPr>
    </p:bg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6"/>
          <p:cNvSpPr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0"/>
              <a:buFont typeface="Arial"/>
              <a:buNone/>
            </a:pPr>
            <a:r>
              <a:rPr lang="en-US" sz="240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2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6"/>
          <p:cNvSpPr/>
          <p:nvPr/>
        </p:nvSpPr>
        <p:spPr>
          <a:xfrm>
            <a:off x="5486400" y="2743200"/>
            <a:ext cx="109728" cy="1828800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26"/>
          <p:cNvSpPr/>
          <p:nvPr/>
        </p:nvSpPr>
        <p:spPr>
          <a:xfrm>
            <a:off x="5760720" y="2468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CHAPTER 12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6"/>
          <p:cNvSpPr/>
          <p:nvPr/>
        </p:nvSpPr>
        <p:spPr>
          <a:xfrm>
            <a:off x="5760720" y="28346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定型文を編集する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6"/>
          <p:cNvSpPr/>
          <p:nvPr/>
        </p:nvSpPr>
        <p:spPr>
          <a:xfrm>
            <a:off x="5760720" y="397764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フォームの「連絡事項」でよく使う文言を登録しておきます。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Yorimado 来館記録管理マニュアル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7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27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7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7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定型文を編集する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7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27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7"/>
          <p:cNvSpPr/>
          <p:nvPr/>
        </p:nvSpPr>
        <p:spPr>
          <a:xfrm>
            <a:off x="457200" y="868680"/>
            <a:ext cx="228600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7"/>
          <p:cNvSpPr/>
          <p:nvPr/>
        </p:nvSpPr>
        <p:spPr>
          <a:xfrm>
            <a:off x="594360" y="86868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いつ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よく使う文言を追加時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7"/>
          <p:cNvSpPr/>
          <p:nvPr/>
        </p:nvSpPr>
        <p:spPr>
          <a:xfrm>
            <a:off x="2880360" y="868680"/>
            <a:ext cx="1042416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27"/>
          <p:cNvSpPr/>
          <p:nvPr/>
        </p:nvSpPr>
        <p:spPr>
          <a:xfrm>
            <a:off x="3017520" y="868680"/>
            <a:ext cx="8595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時間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3分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7"/>
          <p:cNvSpPr/>
          <p:nvPr/>
        </p:nvSpPr>
        <p:spPr>
          <a:xfrm>
            <a:off x="4059936" y="868680"/>
            <a:ext cx="1975104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27"/>
          <p:cNvSpPr/>
          <p:nvPr/>
        </p:nvSpPr>
        <p:spPr>
          <a:xfrm>
            <a:off x="4197096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担当 </a:t>
            </a: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管理担当スタッフ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7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7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7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7"/>
          <p:cNvSpPr/>
          <p:nvPr/>
        </p:nvSpPr>
        <p:spPr>
          <a:xfrm>
            <a:off x="1005840" y="18288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「定型文マスタ」タブをクリック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1005840" y="214884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7"/>
          <p:cNvSpPr/>
          <p:nvPr/>
        </p:nvSpPr>
        <p:spPr>
          <a:xfrm>
            <a:off x="457200" y="269748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27"/>
          <p:cNvSpPr/>
          <p:nvPr/>
        </p:nvSpPr>
        <p:spPr>
          <a:xfrm>
            <a:off x="457200" y="26974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1005840" y="26517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A列に一文ずつ入力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1005840" y="297180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長文を1行に詰め込まない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7"/>
          <p:cNvSpPr/>
          <p:nvPr/>
        </p:nvSpPr>
        <p:spPr>
          <a:xfrm>
            <a:off x="457200" y="352044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27"/>
          <p:cNvSpPr/>
          <p:nvPr/>
        </p:nvSpPr>
        <p:spPr>
          <a:xfrm>
            <a:off x="457200" y="35204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7"/>
          <p:cNvSpPr/>
          <p:nvPr/>
        </p:nvSpPr>
        <p:spPr>
          <a:xfrm>
            <a:off x="1005840" y="347472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ドロップダウンを更新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7"/>
          <p:cNvSpPr/>
          <p:nvPr/>
        </p:nvSpPr>
        <p:spPr>
          <a:xfrm>
            <a:off x="1005840" y="379476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メニュー → 来館管理 → ドロップダウンを更新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7"/>
          <p:cNvSpPr/>
          <p:nvPr/>
        </p:nvSpPr>
        <p:spPr>
          <a:xfrm>
            <a:off x="457200" y="43891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登録例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7"/>
          <p:cNvSpPr/>
          <p:nvPr/>
        </p:nvSpPr>
        <p:spPr>
          <a:xfrm>
            <a:off x="457200" y="4709160"/>
            <a:ext cx="5577840" cy="274320"/>
          </a:xfrm>
          <a:prstGeom prst="rect">
            <a:avLst/>
          </a:prstGeom>
          <a:solidFill>
            <a:srgbClr val="F2F5F6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7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楽しく過ごされていました。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7"/>
          <p:cNvSpPr/>
          <p:nvPr/>
        </p:nvSpPr>
        <p:spPr>
          <a:xfrm>
            <a:off x="457200" y="5010912"/>
            <a:ext cx="557784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7"/>
          <p:cNvSpPr/>
          <p:nvPr/>
        </p:nvSpPr>
        <p:spPr>
          <a:xfrm>
            <a:off x="548640" y="501091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プールで遊ばれてました。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7"/>
          <p:cNvSpPr/>
          <p:nvPr/>
        </p:nvSpPr>
        <p:spPr>
          <a:xfrm>
            <a:off x="457200" y="5312664"/>
            <a:ext cx="5577840" cy="274320"/>
          </a:xfrm>
          <a:prstGeom prst="rect">
            <a:avLst/>
          </a:prstGeom>
          <a:solidFill>
            <a:srgbClr val="F2F5F6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7"/>
          <p:cNvSpPr/>
          <p:nvPr/>
        </p:nvSpPr>
        <p:spPr>
          <a:xfrm>
            <a:off x="548640" y="5312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少し元気がないご様子でした。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7"/>
          <p:cNvSpPr/>
          <p:nvPr/>
        </p:nvSpPr>
        <p:spPr>
          <a:xfrm>
            <a:off x="457200" y="5614416"/>
            <a:ext cx="557784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27"/>
          <p:cNvSpPr/>
          <p:nvPr/>
        </p:nvSpPr>
        <p:spPr>
          <a:xfrm>
            <a:off x="548640" y="561441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食欲は普段通りでした。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7"/>
          <p:cNvSpPr/>
          <p:nvPr/>
        </p:nvSpPr>
        <p:spPr>
          <a:xfrm>
            <a:off x="457200" y="5916168"/>
            <a:ext cx="5577840" cy="274320"/>
          </a:xfrm>
          <a:prstGeom prst="rect">
            <a:avLst/>
          </a:prstGeom>
          <a:solidFill>
            <a:srgbClr val="F2F5F6"/>
          </a:solidFill>
          <a:ln w="9525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27"/>
          <p:cNvSpPr/>
          <p:nvPr/>
        </p:nvSpPr>
        <p:spPr>
          <a:xfrm>
            <a:off x="548640" y="5916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体調を崩されていました。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7"/>
          <p:cNvSpPr/>
          <p:nvPr/>
        </p:nvSpPr>
        <p:spPr>
          <a:xfrm>
            <a:off x="6181344" y="1426464"/>
            <a:ext cx="5650992" cy="235915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6" name="Google Shape;696;p27" descr="/sessions/vibrant-eloquent-babbage/mnt/outputs/images_opt/12_template_mas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7920" y="1463040"/>
            <a:ext cx="557784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27"/>
          <p:cNvSpPr/>
          <p:nvPr/>
        </p:nvSpPr>
        <p:spPr>
          <a:xfrm>
            <a:off x="6181344" y="3895344"/>
            <a:ext cx="5650992" cy="25420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8" name="Google Shape;698;p27" descr="/sessions/vibrant-eloquent-babbage/mnt/outputs/images_opt/12_template_input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7920" y="3931920"/>
            <a:ext cx="5577840" cy="246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52"/>
        </a:solidFill>
        <a:effectLst/>
      </p:bgPr>
    </p:bg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8"/>
          <p:cNvSpPr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0"/>
              <a:buFont typeface="Arial"/>
              <a:buNone/>
            </a:pPr>
            <a:r>
              <a:rPr lang="en-US" sz="240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2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8"/>
          <p:cNvSpPr/>
          <p:nvPr/>
        </p:nvSpPr>
        <p:spPr>
          <a:xfrm>
            <a:off x="5486400" y="2743200"/>
            <a:ext cx="109728" cy="1828800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28"/>
          <p:cNvSpPr/>
          <p:nvPr/>
        </p:nvSpPr>
        <p:spPr>
          <a:xfrm>
            <a:off x="5760720" y="2468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CHAPTER 13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8"/>
          <p:cNvSpPr/>
          <p:nvPr/>
        </p:nvSpPr>
        <p:spPr>
          <a:xfrm>
            <a:off x="5760720" y="28346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設定を変更する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8"/>
          <p:cNvSpPr/>
          <p:nvPr/>
        </p:nvSpPr>
        <p:spPr>
          <a:xfrm>
            <a:off x="5760720" y="397764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システム全体の基本設定（メール文面・営業日など）を変更します。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Yorimado 来館記録管理マニュアル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9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29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29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9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設定を変更する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9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手順と設定項目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29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9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solidFill>
            <a:srgbClr val="FDECEA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29"/>
          <p:cNvSpPr/>
          <p:nvPr/>
        </p:nvSpPr>
        <p:spPr>
          <a:xfrm>
            <a:off x="457200" y="822960"/>
            <a:ext cx="109728" cy="502920"/>
          </a:xfrm>
          <a:prstGeom prst="rect">
            <a:avLst/>
          </a:prstGeom>
          <a:solidFill>
            <a:srgbClr val="D9534F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29"/>
          <p:cNvSpPr/>
          <p:nvPr/>
        </p:nvSpPr>
        <p:spPr>
          <a:xfrm>
            <a:off x="685800" y="8229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管理者専用  </a:t>
            </a: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設定を誤ると全児童の振り分けやメール送信が止まる可能性があります。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9"/>
          <p:cNvSpPr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9"/>
          <p:cNvSpPr/>
          <p:nvPr/>
        </p:nvSpPr>
        <p:spPr>
          <a:xfrm>
            <a:off x="457200" y="192024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29"/>
          <p:cNvSpPr/>
          <p:nvPr/>
        </p:nvSpPr>
        <p:spPr>
          <a:xfrm>
            <a:off x="457200" y="19202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9"/>
          <p:cNvSpPr/>
          <p:nvPr/>
        </p:nvSpPr>
        <p:spPr>
          <a:xfrm>
            <a:off x="1005840" y="189280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「設定」タブをクリック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9"/>
          <p:cNvSpPr/>
          <p:nvPr/>
        </p:nvSpPr>
        <p:spPr>
          <a:xfrm>
            <a:off x="1005840" y="221284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9"/>
          <p:cNvSpPr/>
          <p:nvPr/>
        </p:nvSpPr>
        <p:spPr>
          <a:xfrm>
            <a:off x="457200" y="2606040"/>
            <a:ext cx="411480" cy="4114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29"/>
          <p:cNvSpPr/>
          <p:nvPr/>
        </p:nvSpPr>
        <p:spPr>
          <a:xfrm>
            <a:off x="457200" y="2606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9"/>
          <p:cNvSpPr/>
          <p:nvPr/>
        </p:nvSpPr>
        <p:spPr>
          <a:xfrm>
            <a:off x="1005840" y="257860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B列の値だけを変更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9"/>
          <p:cNvSpPr/>
          <p:nvPr/>
        </p:nvSpPr>
        <p:spPr>
          <a:xfrm>
            <a:off x="1005840" y="289864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A列の項目名は絶対に変えない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9"/>
          <p:cNvSpPr/>
          <p:nvPr/>
        </p:nvSpPr>
        <p:spPr>
          <a:xfrm>
            <a:off x="457200" y="34290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主な設定項目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5" name="Google Shape;735;p29"/>
          <p:cNvGraphicFramePr/>
          <p:nvPr/>
        </p:nvGraphicFramePr>
        <p:xfrm>
          <a:off x="457200" y="3749040"/>
          <a:ext cx="5577850" cy="1795240"/>
        </p:xfrm>
        <a:graphic>
          <a:graphicData uri="http://schemas.openxmlformats.org/drawingml/2006/table">
            <a:tbl>
              <a:tblPr>
                <a:noFill/>
                <a:tableStyleId>{72552EF9-BA63-41EA-8549-83D43F13FCEF}</a:tableStyleId>
              </a:tblPr>
              <a:tblGrid>
                <a:gridCol w="347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項目名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5F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変更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5F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入所時間 / 退所時間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1日最大来館数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食事 / 入浴 / 便 / 服薬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入眠時刻 / 朝4時チェック / 起床時刻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メール件名 / メール本文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 文言のみ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営業日 / 固定スタッフ名 / エラー通知先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△ 慎重に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0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36" name="Google Shape;736;p29"/>
          <p:cNvSpPr/>
          <p:nvPr/>
        </p:nvSpPr>
        <p:spPr>
          <a:xfrm>
            <a:off x="6181344" y="1426464"/>
            <a:ext cx="5650992" cy="235915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7" name="Google Shape;737;p29" descr="/sessions/vibrant-eloquent-babbage/mnt/outputs/images_opt/13_setting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7920" y="1463040"/>
            <a:ext cx="557784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29"/>
          <p:cNvSpPr/>
          <p:nvPr/>
        </p:nvSpPr>
        <p:spPr>
          <a:xfrm>
            <a:off x="6181344" y="3849624"/>
            <a:ext cx="5650992" cy="258775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9" name="Google Shape;739;p29" descr="/sessions/vibrant-eloquent-babbage/mnt/outputs/images_opt/13_settings_edit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7920" y="3886200"/>
            <a:ext cx="557784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30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0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0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設定を変更する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0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メール本文のプレースホルダ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30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0"/>
          <p:cNvSpPr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メール本文のプレースホルダ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0"/>
          <p:cNvSpPr/>
          <p:nvPr/>
        </p:nvSpPr>
        <p:spPr>
          <a:xfrm>
            <a:off x="457200" y="13716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送信時に以下の17個が自動で置き換わります。名前は絶対に変更しないでください。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0"/>
          <p:cNvSpPr/>
          <p:nvPr/>
        </p:nvSpPr>
        <p:spPr>
          <a:xfrm>
            <a:off x="457200" y="1920240"/>
            <a:ext cx="5486400" cy="594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30"/>
          <p:cNvSpPr/>
          <p:nvPr/>
        </p:nvSpPr>
        <p:spPr>
          <a:xfrm>
            <a:off x="457200" y="1920240"/>
            <a:ext cx="1737360" cy="59436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30"/>
          <p:cNvSpPr/>
          <p:nvPr/>
        </p:nvSpPr>
        <p:spPr>
          <a:xfrm>
            <a:off x="502920" y="1920240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{保護者名}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0"/>
          <p:cNvSpPr/>
          <p:nvPr/>
        </p:nvSpPr>
        <p:spPr>
          <a:xfrm>
            <a:off x="2331720" y="1920240"/>
            <a:ext cx="35204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その児童の保護者名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0"/>
          <p:cNvSpPr/>
          <p:nvPr/>
        </p:nvSpPr>
        <p:spPr>
          <a:xfrm>
            <a:off x="6217920" y="1920240"/>
            <a:ext cx="5486400" cy="594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30"/>
          <p:cNvSpPr/>
          <p:nvPr/>
        </p:nvSpPr>
        <p:spPr>
          <a:xfrm>
            <a:off x="6217920" y="1920240"/>
            <a:ext cx="1737360" cy="59436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0"/>
          <p:cNvSpPr/>
          <p:nvPr/>
        </p:nvSpPr>
        <p:spPr>
          <a:xfrm>
            <a:off x="6263640" y="1920240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{日付}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0"/>
          <p:cNvSpPr/>
          <p:nvPr/>
        </p:nvSpPr>
        <p:spPr>
          <a:xfrm>
            <a:off x="8092440" y="1920240"/>
            <a:ext cx="35204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利用日（フォーム送信日のタイムスタンプ）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0"/>
          <p:cNvSpPr/>
          <p:nvPr/>
        </p:nvSpPr>
        <p:spPr>
          <a:xfrm>
            <a:off x="457200" y="2606040"/>
            <a:ext cx="5486400" cy="594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30"/>
          <p:cNvSpPr/>
          <p:nvPr/>
        </p:nvSpPr>
        <p:spPr>
          <a:xfrm>
            <a:off x="457200" y="2606040"/>
            <a:ext cx="1737360" cy="59436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0"/>
          <p:cNvSpPr/>
          <p:nvPr/>
        </p:nvSpPr>
        <p:spPr>
          <a:xfrm>
            <a:off x="502920" y="2606040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{児童名}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0"/>
          <p:cNvSpPr/>
          <p:nvPr/>
        </p:nvSpPr>
        <p:spPr>
          <a:xfrm>
            <a:off x="2331720" y="2606040"/>
            <a:ext cx="35204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児童の名前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0"/>
          <p:cNvSpPr/>
          <p:nvPr/>
        </p:nvSpPr>
        <p:spPr>
          <a:xfrm>
            <a:off x="6217920" y="2606040"/>
            <a:ext cx="5486400" cy="594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30"/>
          <p:cNvSpPr/>
          <p:nvPr/>
        </p:nvSpPr>
        <p:spPr>
          <a:xfrm>
            <a:off x="6217920" y="2606040"/>
            <a:ext cx="1737360" cy="59436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30"/>
          <p:cNvSpPr/>
          <p:nvPr/>
        </p:nvSpPr>
        <p:spPr>
          <a:xfrm>
            <a:off x="6263640" y="2606040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{入所時間} {退所時間} {体温}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0"/>
          <p:cNvSpPr/>
          <p:nvPr/>
        </p:nvSpPr>
        <p:spPr>
          <a:xfrm>
            <a:off x="8092440" y="2606040"/>
            <a:ext cx="35204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入退所時刻・体温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0"/>
          <p:cNvSpPr/>
          <p:nvPr/>
        </p:nvSpPr>
        <p:spPr>
          <a:xfrm>
            <a:off x="457200" y="3291840"/>
            <a:ext cx="5486400" cy="594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30"/>
          <p:cNvSpPr/>
          <p:nvPr/>
        </p:nvSpPr>
        <p:spPr>
          <a:xfrm>
            <a:off x="457200" y="3291840"/>
            <a:ext cx="1737360" cy="59436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30"/>
          <p:cNvSpPr/>
          <p:nvPr/>
        </p:nvSpPr>
        <p:spPr>
          <a:xfrm>
            <a:off x="502920" y="3291840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{夕食} {朝食} {昼食} {入浴} {便}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0"/>
          <p:cNvSpPr/>
          <p:nvPr/>
        </p:nvSpPr>
        <p:spPr>
          <a:xfrm>
            <a:off x="2331720" y="3291840"/>
            <a:ext cx="35204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食事3種・入浴・便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0"/>
          <p:cNvSpPr/>
          <p:nvPr/>
        </p:nvSpPr>
        <p:spPr>
          <a:xfrm>
            <a:off x="6217920" y="3291840"/>
            <a:ext cx="5486400" cy="594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30"/>
          <p:cNvSpPr/>
          <p:nvPr/>
        </p:nvSpPr>
        <p:spPr>
          <a:xfrm>
            <a:off x="6217920" y="3291840"/>
            <a:ext cx="1737360" cy="59436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30"/>
          <p:cNvSpPr/>
          <p:nvPr/>
        </p:nvSpPr>
        <p:spPr>
          <a:xfrm>
            <a:off x="6263640" y="3291840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{入眠時刻} {朝4時チェック} {起床時刻} {服薬(夜)} {服薬(朝)} {連絡事項}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0"/>
          <p:cNvSpPr/>
          <p:nvPr/>
        </p:nvSpPr>
        <p:spPr>
          <a:xfrm>
            <a:off x="8092440" y="3291840"/>
            <a:ext cx="35204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睡眠3項目・服薬2種・連絡事項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0"/>
          <p:cNvSpPr/>
          <p:nvPr/>
        </p:nvSpPr>
        <p:spPr>
          <a:xfrm>
            <a:off x="457200" y="4434840"/>
            <a:ext cx="11247120" cy="1920240"/>
          </a:xfrm>
          <a:prstGeom prst="rect">
            <a:avLst/>
          </a:prstGeom>
          <a:solidFill>
            <a:srgbClr val="FDECEA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30"/>
          <p:cNvSpPr/>
          <p:nvPr/>
        </p:nvSpPr>
        <p:spPr>
          <a:xfrm>
            <a:off x="457200" y="4434840"/>
            <a:ext cx="109728" cy="1920240"/>
          </a:xfrm>
          <a:prstGeom prst="rect">
            <a:avLst/>
          </a:prstGeom>
          <a:solidFill>
            <a:srgbClr val="D9534F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30"/>
          <p:cNvSpPr/>
          <p:nvPr/>
        </p:nvSpPr>
        <p:spPr>
          <a:xfrm>
            <a:off x="685800" y="45262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絶対に変えてはいけないもの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0"/>
          <p:cNvSpPr/>
          <p:nvPr/>
        </p:nvSpPr>
        <p:spPr>
          <a:xfrm>
            <a:off x="685800" y="489204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A列の項目名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プレースホルダの名前（{保護者名} {日付} など）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設定シートのシート名そのもの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色付きセルや結合セル（見出しやラベル）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31"/>
          <p:cNvSpPr/>
          <p:nvPr/>
        </p:nvSpPr>
        <p:spPr>
          <a:xfrm>
            <a:off x="365760" y="155448"/>
            <a:ext cx="1005840" cy="329184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31"/>
          <p:cNvSpPr/>
          <p:nvPr/>
        </p:nvSpPr>
        <p:spPr>
          <a:xfrm>
            <a:off x="365760" y="15544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まとめ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1"/>
          <p:cNvSpPr/>
          <p:nvPr/>
        </p:nvSpPr>
        <p:spPr>
          <a:xfrm>
            <a:off x="155448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Troubleshooting &amp; Rules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1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困ったとき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31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困ったときは、まずこの3つ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1"/>
          <p:cNvSpPr/>
          <p:nvPr/>
        </p:nvSpPr>
        <p:spPr>
          <a:xfrm>
            <a:off x="457200" y="1554480"/>
            <a:ext cx="3749040" cy="21945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31"/>
          <p:cNvSpPr/>
          <p:nvPr/>
        </p:nvSpPr>
        <p:spPr>
          <a:xfrm>
            <a:off x="731520" y="1783080"/>
            <a:ext cx="640080" cy="64008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31"/>
          <p:cNvSpPr/>
          <p:nvPr/>
        </p:nvSpPr>
        <p:spPr>
          <a:xfrm>
            <a:off x="731520" y="1783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1"/>
          <p:cNvSpPr/>
          <p:nvPr/>
        </p:nvSpPr>
        <p:spPr>
          <a:xfrm>
            <a:off x="731520" y="25146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スプレッドシートを開き直す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1"/>
          <p:cNvSpPr/>
          <p:nvPr/>
        </p:nvSpPr>
        <p:spPr>
          <a:xfrm>
            <a:off x="731520" y="288036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タブを一度閉じて、もう一度開くだけで直ることが多い。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1"/>
          <p:cNvSpPr/>
          <p:nvPr/>
        </p:nvSpPr>
        <p:spPr>
          <a:xfrm>
            <a:off x="4343400" y="1554480"/>
            <a:ext cx="3749040" cy="21945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31"/>
          <p:cNvSpPr/>
          <p:nvPr/>
        </p:nvSpPr>
        <p:spPr>
          <a:xfrm>
            <a:off x="4617720" y="1783080"/>
            <a:ext cx="640080" cy="640080"/>
          </a:xfrm>
          <a:prstGeom prst="ellipse">
            <a:avLst/>
          </a:prstGeom>
          <a:solidFill>
            <a:srgbClr val="77A5B2"/>
          </a:solidFill>
          <a:ln w="12700" cap="flat" cmpd="sng">
            <a:solidFill>
              <a:srgbClr val="77A5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31"/>
          <p:cNvSpPr/>
          <p:nvPr/>
        </p:nvSpPr>
        <p:spPr>
          <a:xfrm>
            <a:off x="4617720" y="1783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1"/>
          <p:cNvSpPr/>
          <p:nvPr/>
        </p:nvSpPr>
        <p:spPr>
          <a:xfrm>
            <a:off x="4617720" y="25146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対象年月を確認する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1"/>
          <p:cNvSpPr/>
          <p:nvPr/>
        </p:nvSpPr>
        <p:spPr>
          <a:xfrm>
            <a:off x="4617720" y="288036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プルダウンが「すべて」になっていないか確認。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1"/>
          <p:cNvSpPr/>
          <p:nvPr/>
        </p:nvSpPr>
        <p:spPr>
          <a:xfrm>
            <a:off x="8229600" y="1554480"/>
            <a:ext cx="3749040" cy="21945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E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31"/>
          <p:cNvSpPr/>
          <p:nvPr/>
        </p:nvSpPr>
        <p:spPr>
          <a:xfrm>
            <a:off x="8503920" y="1783080"/>
            <a:ext cx="640080" cy="640080"/>
          </a:xfrm>
          <a:prstGeom prst="ellipse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31"/>
          <p:cNvSpPr/>
          <p:nvPr/>
        </p:nvSpPr>
        <p:spPr>
          <a:xfrm>
            <a:off x="8503920" y="1783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1"/>
          <p:cNvSpPr/>
          <p:nvPr/>
        </p:nvSpPr>
        <p:spPr>
          <a:xfrm>
            <a:off x="8503920" y="25146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管理者に連絡する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1"/>
          <p:cNvSpPr/>
          <p:nvPr/>
        </p:nvSpPr>
        <p:spPr>
          <a:xfrm>
            <a:off x="8503920" y="288036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上記で解決しない場合は無理せず管理者に相談。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1"/>
          <p:cNvSpPr/>
          <p:nvPr/>
        </p:nvSpPr>
        <p:spPr>
          <a:xfrm>
            <a:off x="457200" y="4023360"/>
            <a:ext cx="11247120" cy="2286000"/>
          </a:xfrm>
          <a:prstGeom prst="rect">
            <a:avLst/>
          </a:prstGeom>
          <a:solidFill>
            <a:srgbClr val="FDECEA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31"/>
          <p:cNvSpPr/>
          <p:nvPr/>
        </p:nvSpPr>
        <p:spPr>
          <a:xfrm>
            <a:off x="457200" y="4023360"/>
            <a:ext cx="109728" cy="2286000"/>
          </a:xfrm>
          <a:prstGeom prst="rect">
            <a:avLst/>
          </a:prstGeom>
          <a:solidFill>
            <a:srgbClr val="D9534F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31"/>
          <p:cNvSpPr/>
          <p:nvPr/>
        </p:nvSpPr>
        <p:spPr>
          <a:xfrm>
            <a:off x="685800" y="4114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大事なお願い：以下は触らないでください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1"/>
          <p:cNvSpPr/>
          <p:nvPr/>
        </p:nvSpPr>
        <p:spPr>
          <a:xfrm>
            <a:off x="685800" y="4480560"/>
            <a:ext cx="10972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設定シートの値（メール文面を変えたいときだけ13章を参照）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確定来館記録の「データ区分」列（実データと振り分けの大事な印）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月別集計・来館カレンダーの表の中の数字（自動計算）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ログシート（エラー記録が自動で入る場所）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52"/>
        </a:solidFill>
        <a:effectLst/>
      </p:bgPr>
    </p:bg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32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285F74"/>
          </a:solidFill>
          <a:ln w="12700" cap="flat" cmpd="sng">
            <a:solidFill>
              <a:srgbClr val="285F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32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E8A87C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32"/>
          <p:cNvSpPr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ご活用ください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2"/>
          <p:cNvSpPr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この手順書でカバーできない内容は、いつでもご相談ください。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2"/>
          <p:cNvSpPr/>
          <p:nvPr/>
        </p:nvSpPr>
        <p:spPr>
          <a:xfrm>
            <a:off x="5547208" y="4023360"/>
            <a:ext cx="1097280" cy="36576"/>
          </a:xfrm>
          <a:prstGeom prst="rect">
            <a:avLst/>
          </a:prstGeom>
          <a:solidFill>
            <a:srgbClr val="E8A87C"/>
          </a:solidFill>
          <a:ln w="12700" cap="flat" cmpd="sng">
            <a:solidFill>
              <a:srgbClr val="E8A8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1690</Words>
  <Application>Microsoft Macintosh PowerPoint</Application>
  <PresentationFormat>ワイド画面</PresentationFormat>
  <Paragraphs>544</Paragraphs>
  <Slides>30</Slides>
  <Notes>30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4" baseType="lpstr">
      <vt:lpstr>Arial</vt:lpstr>
      <vt:lpstr>Calibri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雅貴 立津</cp:lastModifiedBy>
  <cp:revision>1</cp:revision>
  <dcterms:modified xsi:type="dcterms:W3CDTF">2026-04-30T10:30:14Z</dcterms:modified>
</cp:coreProperties>
</file>